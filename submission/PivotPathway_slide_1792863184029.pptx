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p15="http://schemas.microsoft.com/office/powerpoint/2012/main" xmlns:r="http://schemas.openxmlformats.org/officeDocument/2006/relationships" xmlns:a="http://schemas.openxmlformats.org/drawingml/2006/main" xmlns:mc="http://schemas.openxmlformats.org/markup-compatibility/2006" firstSlideNum="1" mc:Ignorable="p15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1" Type="http://schemas.openxmlformats.org/officeDocument/2006/relationships/slide" Target="slides/slide1.xml" /><Relationship Id="rId3" Type="http://schemas.openxmlformats.org/officeDocument/2006/relationships/slide" Target="slides/slide3.xml" /><Relationship Id="rId2" Type="http://schemas.openxmlformats.org/officeDocument/2006/relationships/slide" Target="slides/slide2.xml" /><Relationship Id="rId7" Type="http://schemas.openxmlformats.org/officeDocument/2006/relationships/slide" Target="slides/slide7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8" Type="http://schemas.openxmlformats.org/officeDocument/2006/relationships/slide" Target="slides/slide8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Click to edit Master title style</a:t>
            </a:r>
            <a:endParaRPr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/>
            <a:r>
              <a:rPr lang="en-US"/>
              <a:t>Click to edit Master title style</a:t>
            </a:r>
            <a:endParaRPr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Click to edit Master title style</a:t>
            </a:r>
            <a:endParaRPr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/>
              <a:t>Click to edit Master title style</a:t>
            </a:r>
            <a:endParaRPr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Click to edit Master title style</a:t>
            </a:r>
            <a:endParaRPr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/>
              <a:t>Click to edit Master title style</a:t>
            </a:r>
            <a:endParaRPr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/>
              <a:t>Click to edit Master title style</a:t>
            </a:r>
            <a:endParaRPr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Click to edit Master title style</a:t>
            </a:r>
            <a:endParaRPr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/>
              <a:t>Click to edit Master title style</a:t>
            </a:r>
            <a:endParaRPr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slideLayout" Target="../slideLayouts/slideLayout2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4" Type="http://schemas.openxmlformats.org/officeDocument/2006/relationships/slideLayout" Target="../slideLayouts/slideLayout5.xml" /><Relationship Id="rId5" Type="http://schemas.openxmlformats.org/officeDocument/2006/relationships/slideLayout" Target="../slideLayouts/slideLayout6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Relationship Id="rId9" Type="http://schemas.openxmlformats.org/officeDocument/2006/relationships/slideLayout" Target="../slideLayouts/slideLayout10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chart" Target="charts/chart1.xml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charts/chart1.xml><?xml version="1.0" encoding="utf-8"?>
<c:chartSpace xmlns:a="http://schemas.openxmlformats.org/drawingml/2006/main" xmlns:c="http://schemas.openxmlformats.org/drawingml/20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Low</c:v>
                </c:pt>
              </c:strCache>
            </c:strRef>
          </c:tx>
          <c:spPr>
            <a:ln w="22225">
              <a:solidFill>
                <a:srgbClr val="0C2438"/>
              </a:solidFill>
            </a:ln>
          </c:spPr>
          <c:marker>
            <c:symbol val="circle"/>
            <c:size val="5"/>
            <c:spPr>
              <a:solidFill>
                <a:srgbClr val="0C2438"/>
              </a:solidFill>
              <a:ln>
                <a:solidFill>
                  <a:srgbClr val="0C2438"/>
                </a:solidFill>
              </a:ln>
            </c:spPr>
          </c:marker>
          <c:cat>
            <c:strRef>
              <c:strCache>
                <c:ptCount val="6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18</c:v>
                </c:pt>
                <c:pt idx="1">
                  <c:v>20</c:v>
                </c:pt>
                <c:pt idx="2">
                  <c:v>22</c:v>
                </c:pt>
                <c:pt idx="3">
                  <c:v>24</c:v>
                </c:pt>
                <c:pt idx="4">
                  <c:v>26</c:v>
                </c:pt>
                <c:pt idx="5">
                  <c:v>28</c:v>
                </c:pt>
              </c:numCache>
            </c:numRef>
          </c:val>
          <c:smooth val="0"/>
          <c:extLst>
            <c:ext uri="{C3380CC4-5D6E-409C-BE32-E72D297353CC}"/>
          </c:extLst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Medium</c:v>
                </c:pt>
              </c:strCache>
            </c:strRef>
          </c:tx>
          <c:spPr>
            <a:ln w="22225">
              <a:solidFill>
                <a:srgbClr val="C9862E"/>
              </a:solidFill>
            </a:ln>
          </c:spPr>
          <c:marker>
            <c:symbol val="circle"/>
            <c:size val="5"/>
            <c:spPr>
              <a:solidFill>
                <a:srgbClr val="C9862E"/>
              </a:solidFill>
              <a:ln>
                <a:solidFill>
                  <a:srgbClr val="C9862E"/>
                </a:solidFill>
              </a:ln>
            </c:spPr>
          </c:marker>
          <c:cat>
            <c:strRef>
              <c:strCache>
                <c:ptCount val="6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38</c:v>
                </c:pt>
                <c:pt idx="1">
                  <c:v>45</c:v>
                </c:pt>
                <c:pt idx="2">
                  <c:v>52</c:v>
                </c:pt>
                <c:pt idx="3">
                  <c:v>61</c:v>
                </c:pt>
                <c:pt idx="4">
                  <c:v>69</c:v>
                </c:pt>
                <c:pt idx="5">
                  <c:v>78</c:v>
                </c:pt>
              </c:numCache>
            </c:numRef>
          </c:val>
          <c:smooth val="0"/>
          <c:extLst>
            <c:ext uri="{C3380CC4-5D6E-409C-BE32-E72D297353CC}"/>
          </c:extLst>
        </c:ser>
        <c:ser>
          <c:idx val="2"/>
          <c:order val="2"/>
          <c:tx>
            <c:strRef>
              <c:f>sheet</c:f>
              <c:strCache>
                <c:ptCount val="1"/>
                <c:pt idx="0">
                  <c:v>High</c:v>
                </c:pt>
              </c:strCache>
            </c:strRef>
          </c:tx>
          <c:spPr>
            <a:ln w="22225">
              <a:solidFill>
                <a:srgbClr val="B43A2E"/>
              </a:solidFill>
            </a:ln>
          </c:spPr>
          <c:marker>
            <c:symbol val="circle"/>
            <c:size val="5"/>
            <c:spPr>
              <a:solidFill>
                <a:srgbClr val="B43A2E"/>
              </a:solidFill>
              <a:ln>
                <a:solidFill>
                  <a:srgbClr val="B43A2E"/>
                </a:solidFill>
              </a:ln>
            </c:spPr>
          </c:marker>
          <c:cat>
            <c:strRef>
              <c:strCache>
                <c:ptCount val="6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55</c:v>
                </c:pt>
                <c:pt idx="1">
                  <c:v>64</c:v>
                </c:pt>
                <c:pt idx="2">
                  <c:v>73</c:v>
                </c:pt>
                <c:pt idx="3">
                  <c:v>81</c:v>
                </c:pt>
                <c:pt idx="4">
                  <c:v>88</c:v>
                </c:pt>
                <c:pt idx="5">
                  <c:v>94</c:v>
                </c:pt>
              </c:numCache>
            </c:numRef>
          </c:val>
          <c:smooth val="0"/>
          <c:extLst>
            <c:ext uri="{C3380CC4-5D6E-409C-BE32-E72D297353CC}"/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DCD6C8"/>
            </a:solidFill>
          </a:ln>
        </c:spPr>
        <c:txPr>
          <a:bodyPr/>
          <a:lstStyle/>
          <a:p>
            <a:pPr>
              <a:defRPr sz="750">
                <a:solidFill>
                  <a:srgbClr val="6B7B85"/>
                </a:solidFill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0"/>
          <c:min val="0"/>
        </c:scaling>
        <c:delete val="0"/>
        <c:axPos val="l"/>
        <c:majorGridlines>
          <c:spPr>
            <a:ln w="7620">
              <a:solidFill>
                <a:srgbClr val="DCD6C8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A8A090"/>
                </a:solidFill>
              </a:defRPr>
            </a:pPr>
            <a:endParaRPr lang="zh-CN"/>
          </a:p>
        </c:txPr>
        <c:crossAx val="2118791784"/>
        <c:crosses val="autoZero"/>
        <c:crossBetween val="between"/>
        <c:majorUnit val="25"/>
      </c:valAx>
    </c:plotArea>
    <c:plotVisOnly val="1"/>
    <c:dispBlanksAs val="gap"/>
    <c:showDLblsOverMax val="0"/>
  </c:chart>
  <c:txPr>
    <a:bodyPr/>
    <a:lstStyle/>
    <a:p>
      <a:pPr>
        <a:defRPr sz="800">
          <a:solidFill>
            <a:srgbClr val="6B7B85"/>
          </a:solidFill>
          <a:latin typeface="Segoe UI"/>
        </a:defRPr>
      </a:pPr>
      <a:endParaRPr lang="en-US"/>
    </a:p>
  </c:txPr>
</c:chartSpace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2438"/>
              </a:gs>
              <a:gs pos="100000">
                <a:srgbClr val="061420"/>
              </a:gs>
            </a:gsLst>
            <a:lin ang="1890000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12280" y="502920"/>
            <a:ext cx="6035040" cy="6035040"/>
          </a:xfrm>
          <a:prstGeom prst="ellipse">
            <a:avLst/>
          </a:prstGeom>
          <a:noFill/>
          <a:ln w="11430">
            <a:solidFill>
              <a:srgbClr val="E3A44B">
                <a:alpha val="30000"/>
              </a:srgbClr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49540" y="1440180"/>
            <a:ext cx="4160520" cy="4160520"/>
          </a:xfrm>
          <a:prstGeom prst="ellipse">
            <a:avLst/>
          </a:prstGeom>
          <a:noFill/>
          <a:ln w="9525">
            <a:solidFill>
              <a:srgbClr val="B9CBD6">
                <a:alpha val="16000"/>
              </a:srgbClr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09660" y="2400300"/>
            <a:ext cx="2240280" cy="2240280"/>
          </a:xfrm>
          <a:prstGeom prst="ellipse">
            <a:avLst/>
          </a:prstGeom>
          <a:noFill/>
          <a:ln w="20320">
            <a:solidFill>
              <a:srgbClr val="E3A44B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914400"/>
            <a:ext cx="310896" cy="25603"/>
          </a:xfrm>
          <a:prstGeom prst="rect">
            <a:avLst/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16736" y="827532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050" b="1" i="0" spc="220">
                <a:solidFill>
                  <a:srgbClr val="E3A44B"/>
                </a:solidFill>
                <a:latin typeface="Segoe UI"/>
              </a:rPr>
              <a:t>SDC HACKATHON   —   SOCIAL IMPACT TRACK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572768"/>
            <a:ext cx="694944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999"/>
              </a:lnSpc>
            </a:pPr>
            <a:r>
              <a:rPr sz="5700" b="1" i="0" spc="160">
                <a:solidFill>
                  <a:srgbClr val="FFFFFF">
                    <a:alpha val="100000"/>
                  </a:srgbClr>
                </a:solidFill>
                <a:latin typeface="Segoe UI"/>
                <a:ea typeface="宋体"/>
                <a:cs typeface="+mn-cs"/>
              </a:rPr>
              <a:t>PIVOTPATH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2761488"/>
            <a:ext cx="868680" cy="32004"/>
          </a:xfrm>
          <a:prstGeom prst="rect">
            <a:avLst/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035808"/>
            <a:ext cx="589788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6000"/>
              </a:lnSpc>
            </a:pPr>
            <a:r>
              <a:rPr sz="1750" b="0" i="0">
                <a:solidFill>
                  <a:srgbClr val="B9CBD6"/>
                </a:solidFill>
                <a:latin typeface="Segoe UI"/>
              </a:rPr>
              <a:t>A career-fit assessment platform that helps new graduates</a:t>
            </a:r>
            <a:endParaRPr/>
          </a:p>
          <a:p>
            <a:pPr algn="l">
              <a:lnSpc>
                <a:spcPct val="136000"/>
              </a:lnSpc>
            </a:pPr>
            <a:r>
              <a:rPr sz="1750" b="0" i="0">
                <a:solidFill>
                  <a:srgbClr val="B9CBD6"/>
                </a:solidFill>
                <a:latin typeface="Segoe UI"/>
              </a:rPr>
              <a:t>and career changers understand where they truly fit.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59028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00" b="1" i="0" spc="260">
                <a:solidFill>
                  <a:srgbClr val="6B7B85"/>
                </a:solidFill>
                <a:latin typeface="Segoe UI"/>
              </a:rPr>
              <a:t>TEAM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84632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 i="0" spc="40">
                <a:solidFill>
                  <a:srgbClr val="FFFFFF"/>
                </a:solidFill>
                <a:latin typeface="Segoe UI"/>
              </a:rPr>
              <a:t>Chen Yang   ·   Jiang Yue   ·   Yan Zimeng   ·   Gao Jingyi   ·   Chen Yike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870448"/>
            <a:ext cx="10451592" cy="10972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73252" y="6094476"/>
            <a:ext cx="137160" cy="137160"/>
          </a:xfrm>
          <a:prstGeom prst="ellipse">
            <a:avLst/>
          </a:prstGeom>
          <a:noFill/>
          <a:ln w="17780">
            <a:solidFill>
              <a:srgbClr val="E3A44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6062472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In partnership with Rotary Club</a:t>
            </a: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0" y="608076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</a:pPr>
            <a:r>
              <a:rPr sz="850" b="1" i="0" spc="180">
                <a:solidFill>
                  <a:srgbClr val="E3A44B"/>
                </a:solidFill>
                <a:latin typeface="Segoe UI"/>
              </a:rPr>
              <a:t>NON-PROFIT CAREER GUIDANCE FOR THE COMMUNITY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8F5EF"/>
              </a:gs>
              <a:gs pos="100000">
                <a:srgbClr val="F8F5EF"/>
              </a:gs>
            </a:gsLst>
            <a:lin ang="1890000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2"/>
          <p:cNvSpPr/>
          <p:nvPr/>
        </p:nvSpPr>
        <p:spPr>
          <a:xfrm>
            <a:off x="868680" y="731520"/>
            <a:ext cx="237744" cy="21945"/>
          </a:xfrm>
          <a:prstGeom prst="rect">
            <a:avLst/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3"/>
          <p:cNvSpPr txBox="1"/>
          <p:nvPr/>
        </p:nvSpPr>
        <p:spPr>
          <a:xfrm>
            <a:off x="1225296" y="6537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C9862E"/>
                </a:solidFill>
                <a:latin typeface="Segoe UI"/>
              </a:rPr>
              <a:t>02  —  PRODUCT CAPABILITIES</a:t>
            </a:r>
            <a:endParaRPr/>
          </a:p>
        </p:txBody>
      </p:sp>
      <p:sp>
        <p:nvSpPr>
          <p:cNvPr id="21" name="TextBox 4"/>
          <p:cNvSpPr txBox="1"/>
          <p:nvPr/>
        </p:nvSpPr>
        <p:spPr>
          <a:xfrm>
            <a:off x="841248" y="932688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3300" b="1" i="0" spc="-30">
                <a:solidFill>
                  <a:srgbClr val="0C2438"/>
                </a:solidFill>
                <a:latin typeface="Segoe UI"/>
              </a:rPr>
              <a:t>From one resume to a clear next step</a:t>
            </a:r>
            <a:endParaRPr/>
          </a:p>
        </p:txBody>
      </p:sp>
      <p:sp>
        <p:nvSpPr>
          <p:cNvPr id="22" name="TextBox 5"/>
          <p:cNvSpPr txBox="1"/>
          <p:nvPr/>
        </p:nvSpPr>
        <p:spPr>
          <a:xfrm>
            <a:off x="868680" y="1673352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B85"/>
                </a:solidFill>
                <a:latin typeface="Segoe UI"/>
              </a:rPr>
              <a:t>Five capabilities work together, so every recommendation can be explained, not just scored.</a:t>
            </a:r>
            <a:endParaRPr/>
          </a:p>
        </p:txBody>
      </p:sp>
      <p:sp>
        <p:nvSpPr>
          <p:cNvPr id="23" name="Rectangle 6"/>
          <p:cNvSpPr/>
          <p:nvPr/>
        </p:nvSpPr>
        <p:spPr>
          <a:xfrm>
            <a:off x="868680" y="2761488"/>
            <a:ext cx="10451592" cy="9144"/>
          </a:xfrm>
          <a:prstGeom prst="rect">
            <a:avLst/>
          </a:prstGeom>
          <a:solidFill>
            <a:srgbClr val="0C2438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7"/>
          <p:cNvSpPr/>
          <p:nvPr/>
        </p:nvSpPr>
        <p:spPr>
          <a:xfrm>
            <a:off x="868680" y="2596896"/>
            <a:ext cx="329184" cy="329184"/>
          </a:xfrm>
          <a:prstGeom prst="ellipse">
            <a:avLst/>
          </a:prstGeom>
          <a:solidFill>
            <a:srgbClr val="E3A44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0C2438"/>
                </a:solidFill>
                <a:latin typeface="Segoe UI"/>
              </a:rPr>
              <a:t>01</a:t>
            </a:r>
            <a:endParaRPr/>
          </a:p>
        </p:txBody>
      </p:sp>
      <p:sp>
        <p:nvSpPr>
          <p:cNvPr id="25" name="TextBox 8"/>
          <p:cNvSpPr txBox="1"/>
          <p:nvPr/>
        </p:nvSpPr>
        <p:spPr>
          <a:xfrm>
            <a:off x="868680" y="3108960"/>
            <a:ext cx="187451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sz="1300" b="1" i="0">
                <a:solidFill>
                  <a:srgbClr val="0C2438"/>
                </a:solidFill>
                <a:latin typeface="Segoe UI"/>
              </a:rPr>
              <a:t>Resume</a:t>
            </a:r>
            <a:endParaRPr/>
          </a:p>
          <a:p>
            <a:pPr algn="l">
              <a:lnSpc>
                <a:spcPct val="114000"/>
              </a:lnSpc>
            </a:pPr>
            <a:r>
              <a:rPr sz="1300" b="1" i="0">
                <a:solidFill>
                  <a:srgbClr val="0C2438"/>
                </a:solidFill>
                <a:latin typeface="Segoe UI"/>
              </a:rPr>
              <a:t>upload</a:t>
            </a:r>
            <a:endParaRPr/>
          </a:p>
        </p:txBody>
      </p:sp>
      <p:sp>
        <p:nvSpPr>
          <p:cNvPr id="26" name="TextBox 9"/>
          <p:cNvSpPr txBox="1"/>
          <p:nvPr/>
        </p:nvSpPr>
        <p:spPr>
          <a:xfrm>
            <a:off x="868680" y="3803904"/>
            <a:ext cx="1874519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6000"/>
              </a:lnSpc>
            </a:pPr>
            <a:r>
              <a:rPr sz="1000" b="0" i="0">
                <a:solidFill>
                  <a:srgbClr val="6B7B85"/>
                </a:solidFill>
                <a:latin typeface="Segoe UI"/>
              </a:rPr>
              <a:t>Drop in a CV in any common format. No forms, no setup, no account friction.</a:t>
            </a:r>
            <a:endParaRPr/>
          </a:p>
        </p:txBody>
      </p:sp>
      <p:sp>
        <p:nvSpPr>
          <p:cNvPr id="27" name="Oval 10"/>
          <p:cNvSpPr/>
          <p:nvPr/>
        </p:nvSpPr>
        <p:spPr>
          <a:xfrm>
            <a:off x="2999232" y="2596896"/>
            <a:ext cx="329184" cy="329184"/>
          </a:xfrm>
          <a:prstGeom prst="ellipse">
            <a:avLst/>
          </a:prstGeom>
          <a:solidFill>
            <a:srgbClr val="E3A44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0C2438"/>
                </a:solidFill>
                <a:latin typeface="Segoe UI"/>
              </a:rPr>
              <a:t>02</a:t>
            </a:r>
            <a:endParaRPr/>
          </a:p>
        </p:txBody>
      </p:sp>
      <p:sp>
        <p:nvSpPr>
          <p:cNvPr id="28" name="TextBox 11"/>
          <p:cNvSpPr txBox="1"/>
          <p:nvPr/>
        </p:nvSpPr>
        <p:spPr>
          <a:xfrm>
            <a:off x="2999232" y="3108960"/>
            <a:ext cx="187451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sz="1300" b="1" i="0">
                <a:solidFill>
                  <a:srgbClr val="0C2438"/>
                </a:solidFill>
                <a:latin typeface="Segoe UI"/>
              </a:rPr>
              <a:t>AI</a:t>
            </a:r>
            <a:endParaRPr/>
          </a:p>
          <a:p>
            <a:pPr algn="l">
              <a:lnSpc>
                <a:spcPct val="114000"/>
              </a:lnSpc>
            </a:pPr>
            <a:r>
              <a:rPr sz="1300" b="1" i="0">
                <a:solidFill>
                  <a:srgbClr val="0C2438"/>
                </a:solidFill>
                <a:latin typeface="Segoe UI"/>
              </a:rPr>
              <a:t>evaluation</a:t>
            </a:r>
            <a:endParaRPr/>
          </a:p>
        </p:txBody>
      </p:sp>
      <p:sp>
        <p:nvSpPr>
          <p:cNvPr id="29" name="TextBox 12"/>
          <p:cNvSpPr txBox="1"/>
          <p:nvPr/>
        </p:nvSpPr>
        <p:spPr>
          <a:xfrm>
            <a:off x="2999232" y="3803904"/>
            <a:ext cx="1874519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6000"/>
              </a:lnSpc>
            </a:pPr>
            <a:r>
              <a:rPr sz="1000" b="0" i="0">
                <a:solidFill>
                  <a:srgbClr val="6B7B85"/>
                </a:solidFill>
                <a:latin typeface="Segoe UI"/>
              </a:rPr>
              <a:t>Professional AI scoring against real role requirements and market evidence.</a:t>
            </a:r>
            <a:endParaRPr/>
          </a:p>
        </p:txBody>
      </p:sp>
      <p:sp>
        <p:nvSpPr>
          <p:cNvPr id="30" name="Oval 13"/>
          <p:cNvSpPr/>
          <p:nvPr/>
        </p:nvSpPr>
        <p:spPr>
          <a:xfrm>
            <a:off x="5129784" y="2596896"/>
            <a:ext cx="329184" cy="329184"/>
          </a:xfrm>
          <a:prstGeom prst="ellipse">
            <a:avLst/>
          </a:prstGeom>
          <a:solidFill>
            <a:srgbClr val="E3A44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0C2438"/>
                </a:solidFill>
                <a:latin typeface="Segoe UI"/>
              </a:rPr>
              <a:t>03</a:t>
            </a:r>
            <a:endParaRPr/>
          </a:p>
        </p:txBody>
      </p:sp>
      <p:sp>
        <p:nvSpPr>
          <p:cNvPr id="31" name="TextBox 14"/>
          <p:cNvSpPr txBox="1"/>
          <p:nvPr/>
        </p:nvSpPr>
        <p:spPr>
          <a:xfrm>
            <a:off x="5129784" y="3108960"/>
            <a:ext cx="187451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sz="1300" b="1" i="0">
                <a:solidFill>
                  <a:srgbClr val="0C2438"/>
                </a:solidFill>
                <a:latin typeface="Segoe UI"/>
              </a:rPr>
              <a:t>Personalized</a:t>
            </a:r>
            <a:endParaRPr/>
          </a:p>
          <a:p>
            <a:pPr algn="l">
              <a:lnSpc>
                <a:spcPct val="114000"/>
              </a:lnSpc>
            </a:pPr>
            <a:r>
              <a:rPr sz="1300" b="1" i="0">
                <a:solidFill>
                  <a:srgbClr val="0C2438"/>
                </a:solidFill>
                <a:latin typeface="Segoe UI"/>
              </a:rPr>
              <a:t>planning</a:t>
            </a:r>
            <a:endParaRPr/>
          </a:p>
        </p:txBody>
      </p:sp>
      <p:sp>
        <p:nvSpPr>
          <p:cNvPr id="32" name="TextBox 15"/>
          <p:cNvSpPr txBox="1"/>
          <p:nvPr/>
        </p:nvSpPr>
        <p:spPr>
          <a:xfrm>
            <a:off x="5129784" y="3803904"/>
            <a:ext cx="1874519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6000"/>
              </a:lnSpc>
            </a:pPr>
            <a:r>
              <a:rPr sz="1000" b="0" i="0">
                <a:solidFill>
                  <a:srgbClr val="6B7B85"/>
                </a:solidFill>
                <a:latin typeface="Segoe UI"/>
              </a:rPr>
              <a:t>A route built around your profile: skills to build, roles to pursue, next steps.</a:t>
            </a:r>
            <a:endParaRPr/>
          </a:p>
        </p:txBody>
      </p:sp>
      <p:sp>
        <p:nvSpPr>
          <p:cNvPr id="33" name="Oval 16"/>
          <p:cNvSpPr/>
          <p:nvPr/>
        </p:nvSpPr>
        <p:spPr>
          <a:xfrm>
            <a:off x="7260336" y="2596896"/>
            <a:ext cx="329184" cy="329184"/>
          </a:xfrm>
          <a:prstGeom prst="ellipse">
            <a:avLst/>
          </a:prstGeom>
          <a:solidFill>
            <a:srgbClr val="E3A44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0C2438"/>
                </a:solidFill>
                <a:latin typeface="Segoe UI"/>
              </a:rPr>
              <a:t>04</a:t>
            </a:r>
            <a:endParaRPr/>
          </a:p>
        </p:txBody>
      </p:sp>
      <p:sp>
        <p:nvSpPr>
          <p:cNvPr id="34" name="TextBox 17"/>
          <p:cNvSpPr txBox="1"/>
          <p:nvPr/>
        </p:nvSpPr>
        <p:spPr>
          <a:xfrm>
            <a:off x="7260336" y="3108960"/>
            <a:ext cx="187451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sz="1300" b="1" i="0">
                <a:solidFill>
                  <a:srgbClr val="0C2438"/>
                </a:solidFill>
                <a:latin typeface="Segoe UI"/>
              </a:rPr>
              <a:t>Visualized</a:t>
            </a:r>
            <a:endParaRPr/>
          </a:p>
          <a:p>
            <a:pPr algn="l">
              <a:lnSpc>
                <a:spcPct val="114000"/>
              </a:lnSpc>
            </a:pPr>
            <a:r>
              <a:rPr sz="1300" b="1" i="0">
                <a:solidFill>
                  <a:srgbClr val="0C2438"/>
                </a:solidFill>
                <a:latin typeface="Segoe UI"/>
              </a:rPr>
              <a:t>outcomes</a:t>
            </a:r>
            <a:endParaRPr/>
          </a:p>
        </p:txBody>
      </p:sp>
      <p:sp>
        <p:nvSpPr>
          <p:cNvPr id="35" name="TextBox 18"/>
          <p:cNvSpPr txBox="1"/>
          <p:nvPr/>
        </p:nvSpPr>
        <p:spPr>
          <a:xfrm>
            <a:off x="7260336" y="3803904"/>
            <a:ext cx="1874519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6000"/>
              </a:lnSpc>
            </a:pPr>
            <a:r>
              <a:rPr sz="1000" b="0" i="0">
                <a:solidFill>
                  <a:srgbClr val="6B7B85"/>
                </a:solidFill>
                <a:latin typeface="Segoe UI"/>
              </a:rPr>
              <a:t>See where similar profiles actually land — by role, sector and salary band.</a:t>
            </a:r>
            <a:endParaRPr/>
          </a:p>
        </p:txBody>
      </p:sp>
      <p:sp>
        <p:nvSpPr>
          <p:cNvPr id="36" name="Oval 19"/>
          <p:cNvSpPr/>
          <p:nvPr/>
        </p:nvSpPr>
        <p:spPr>
          <a:xfrm>
            <a:off x="9390888" y="2596896"/>
            <a:ext cx="329184" cy="329184"/>
          </a:xfrm>
          <a:prstGeom prst="ellipse">
            <a:avLst/>
          </a:prstGeom>
          <a:solidFill>
            <a:srgbClr val="E3A44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0C2438"/>
                </a:solidFill>
                <a:latin typeface="Segoe UI"/>
              </a:rPr>
              <a:t>05</a:t>
            </a:r>
            <a:endParaRPr/>
          </a:p>
        </p:txBody>
      </p:sp>
      <p:sp>
        <p:nvSpPr>
          <p:cNvPr id="37" name="TextBox 20"/>
          <p:cNvSpPr txBox="1"/>
          <p:nvPr/>
        </p:nvSpPr>
        <p:spPr>
          <a:xfrm>
            <a:off x="9390888" y="3108960"/>
            <a:ext cx="187451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sz="1300" b="1" i="0">
                <a:solidFill>
                  <a:srgbClr val="0C2438"/>
                </a:solidFill>
                <a:latin typeface="Segoe UI"/>
              </a:rPr>
              <a:t>AI impact,</a:t>
            </a:r>
            <a:endParaRPr/>
          </a:p>
          <a:p>
            <a:pPr algn="l">
              <a:lnSpc>
                <a:spcPct val="114000"/>
              </a:lnSpc>
            </a:pPr>
            <a:r>
              <a:rPr sz="1300" b="1" i="0">
                <a:solidFill>
                  <a:srgbClr val="0C2438"/>
                </a:solidFill>
                <a:latin typeface="Segoe UI"/>
              </a:rPr>
              <a:t>mapped</a:t>
            </a:r>
            <a:endParaRPr/>
          </a:p>
        </p:txBody>
      </p:sp>
      <p:sp>
        <p:nvSpPr>
          <p:cNvPr id="38" name="TextBox 21"/>
          <p:cNvSpPr txBox="1"/>
          <p:nvPr/>
        </p:nvSpPr>
        <p:spPr>
          <a:xfrm>
            <a:off x="9390888" y="3803904"/>
            <a:ext cx="1874519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6000"/>
              </a:lnSpc>
            </a:pPr>
            <a:r>
              <a:rPr sz="1000" b="0" i="0">
                <a:solidFill>
                  <a:srgbClr val="6B7B85"/>
                </a:solidFill>
                <a:latin typeface="Segoe UI"/>
              </a:rPr>
              <a:t>A multi-dimensional read on how AI is likely to reshape your chosen role.</a:t>
            </a:r>
            <a:endParaRPr/>
          </a:p>
        </p:txBody>
      </p:sp>
      <p:sp>
        <p:nvSpPr>
          <p:cNvPr id="39" name="Rectangle 22"/>
          <p:cNvSpPr/>
          <p:nvPr/>
        </p:nvSpPr>
        <p:spPr>
          <a:xfrm>
            <a:off x="868680" y="5248656"/>
            <a:ext cx="29260" cy="603504"/>
          </a:xfrm>
          <a:prstGeom prst="rect">
            <a:avLst/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23"/>
          <p:cNvSpPr txBox="1"/>
          <p:nvPr/>
        </p:nvSpPr>
        <p:spPr>
          <a:xfrm>
            <a:off x="1133856" y="5248656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4000"/>
              </a:lnSpc>
            </a:pPr>
            <a:r>
              <a:rPr sz="1300" b="0" i="1">
                <a:solidFill>
                  <a:srgbClr val="16252E"/>
                </a:solidFill>
                <a:latin typeface="Georgia"/>
              </a:rPr>
              <a:t>Every score comes with its reasoning — so a user can defend the decision to a parent,</a:t>
            </a:r>
            <a:endParaRPr/>
          </a:p>
          <a:p>
            <a:pPr algn="l">
              <a:lnSpc>
                <a:spcPct val="134000"/>
              </a:lnSpc>
            </a:pPr>
            <a:r>
              <a:rPr sz="1300" b="0" i="1">
                <a:solidFill>
                  <a:srgbClr val="16252E"/>
                </a:solidFill>
                <a:latin typeface="Georgia"/>
              </a:rPr>
              <a:t>an adviser or a hiring manager.</a:t>
            </a:r>
            <a:endParaRPr/>
          </a:p>
        </p:txBody>
      </p:sp>
      <p:sp>
        <p:nvSpPr>
          <p:cNvPr id="41" name="Rectangle 24"/>
          <p:cNvSpPr/>
          <p:nvPr/>
        </p:nvSpPr>
        <p:spPr>
          <a:xfrm>
            <a:off x="868680" y="6355080"/>
            <a:ext cx="10451592" cy="9144"/>
          </a:xfrm>
          <a:prstGeom prst="rect">
            <a:avLst/>
          </a:prstGeom>
          <a:solidFill>
            <a:srgbClr val="0C2438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25"/>
          <p:cNvSpPr txBox="1"/>
          <p:nvPr/>
        </p:nvSpPr>
        <p:spPr>
          <a:xfrm>
            <a:off x="868680" y="64556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 spc="190">
                <a:solidFill>
                  <a:srgbClr val="6B7B85"/>
                </a:solidFill>
                <a:latin typeface="Segoe UI"/>
              </a:rPr>
              <a:t>PIVOTPATHWAY   ·   SDC HACKATHON</a:t>
            </a:r>
            <a:endParaRPr/>
          </a:p>
        </p:txBody>
      </p:sp>
      <p:sp>
        <p:nvSpPr>
          <p:cNvPr id="43" name="TextBox 26"/>
          <p:cNvSpPr txBox="1"/>
          <p:nvPr/>
        </p:nvSpPr>
        <p:spPr>
          <a:xfrm>
            <a:off x="10561320" y="642823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</a:pPr>
            <a:r>
              <a:rPr sz="950" b="1" i="0" spc="120">
                <a:solidFill>
                  <a:srgbClr val="C9862E"/>
                </a:solidFill>
                <a:latin typeface="Segoe UI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2438"/>
              </a:gs>
              <a:gs pos="100000">
                <a:srgbClr val="061420"/>
              </a:gs>
            </a:gsLst>
            <a:lin ang="1890000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2"/>
          <p:cNvSpPr/>
          <p:nvPr/>
        </p:nvSpPr>
        <p:spPr>
          <a:xfrm>
            <a:off x="9464040" y="4069079"/>
            <a:ext cx="3840480" cy="3840480"/>
          </a:xfrm>
          <a:prstGeom prst="ellipse">
            <a:avLst/>
          </a:prstGeom>
          <a:noFill/>
          <a:ln w="10160">
            <a:solidFill>
              <a:srgbClr val="E3A44B">
                <a:alpha val="18000"/>
              </a:srgbClr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3"/>
          <p:cNvSpPr/>
          <p:nvPr/>
        </p:nvSpPr>
        <p:spPr>
          <a:xfrm>
            <a:off x="868680" y="731520"/>
            <a:ext cx="237744" cy="21945"/>
          </a:xfrm>
          <a:prstGeom prst="rect">
            <a:avLst/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"/>
          <p:cNvSpPr txBox="1"/>
          <p:nvPr/>
        </p:nvSpPr>
        <p:spPr>
          <a:xfrm>
            <a:off x="1225296" y="6537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E3A44B"/>
                </a:solidFill>
                <a:latin typeface="Segoe UI"/>
              </a:rPr>
              <a:t>03  —  CORE ADVANTAGE</a:t>
            </a:r>
            <a:endParaRPr/>
          </a:p>
        </p:txBody>
      </p:sp>
      <p:sp>
        <p:nvSpPr>
          <p:cNvPr id="49" name="TextBox 5"/>
          <p:cNvSpPr txBox="1"/>
          <p:nvPr/>
        </p:nvSpPr>
        <p:spPr>
          <a:xfrm>
            <a:off x="841248" y="932688"/>
            <a:ext cx="585216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3300" b="1" i="0" spc="-30">
                <a:solidFill>
                  <a:srgbClr val="FFFFFF"/>
                </a:solidFill>
                <a:latin typeface="Segoe UI"/>
              </a:rPr>
              <a:t>Three languages,</a:t>
            </a:r>
            <a:endParaRPr/>
          </a:p>
          <a:p>
            <a:pPr algn="l">
              <a:lnSpc>
                <a:spcPct val="112000"/>
              </a:lnSpc>
            </a:pPr>
            <a:r>
              <a:rPr sz="3300" b="1" i="0" spc="-30">
                <a:solidFill>
                  <a:srgbClr val="FFFFFF"/>
                </a:solidFill>
                <a:latin typeface="Segoe UI"/>
              </a:rPr>
              <a:t>one standard of advice</a:t>
            </a:r>
            <a:endParaRPr/>
          </a:p>
        </p:txBody>
      </p:sp>
      <p:sp>
        <p:nvSpPr>
          <p:cNvPr id="50" name="TextBox 6"/>
          <p:cNvSpPr txBox="1"/>
          <p:nvPr/>
        </p:nvSpPr>
        <p:spPr>
          <a:xfrm>
            <a:off x="868680" y="2487168"/>
            <a:ext cx="53949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9CBD6"/>
                </a:solidFill>
                <a:latin typeface="Segoe UI"/>
              </a:rPr>
              <a:t>Malay, Chinese and English — built into the product from the</a:t>
            </a:r>
            <a:endParaRPr/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9CBD6"/>
                </a:solidFill>
                <a:latin typeface="Segoe UI"/>
              </a:rPr>
              <a:t>first screen, not bolted on at the end.</a:t>
            </a:r>
            <a:endParaRPr/>
          </a:p>
        </p:txBody>
      </p:sp>
      <p:sp>
        <p:nvSpPr>
          <p:cNvPr id="51" name="TextBox 7"/>
          <p:cNvSpPr txBox="1"/>
          <p:nvPr/>
        </p:nvSpPr>
        <p:spPr>
          <a:xfrm>
            <a:off x="868680" y="3520440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850" b="1" i="0" spc="240">
                <a:solidFill>
                  <a:srgbClr val="E3A44B"/>
                </a:solidFill>
                <a:latin typeface="Segoe UI"/>
              </a:rPr>
              <a:t>WHY IT MATTERS</a:t>
            </a:r>
            <a:endParaRPr/>
          </a:p>
        </p:txBody>
      </p:sp>
      <p:sp>
        <p:nvSpPr>
          <p:cNvPr id="52" name="TextBox 8"/>
          <p:cNvSpPr txBox="1"/>
          <p:nvPr/>
        </p:nvSpPr>
        <p:spPr>
          <a:xfrm>
            <a:off x="868680" y="3803904"/>
            <a:ext cx="507492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8000"/>
              </a:lnSpc>
            </a:pPr>
            <a:r>
              <a:rPr sz="1100" b="0" i="0">
                <a:solidFill>
                  <a:srgbClr val="B9CBD6"/>
                </a:solidFill>
                <a:latin typeface="Segoe UI"/>
              </a:rPr>
              <a:t>People make career decisions in the language they think in.</a:t>
            </a:r>
            <a:endParaRPr/>
          </a:p>
          <a:p>
            <a:pPr algn="l">
              <a:lnSpc>
                <a:spcPct val="158000"/>
              </a:lnSpc>
            </a:pPr>
            <a:r>
              <a:rPr sz="1100" b="0" i="0">
                <a:solidFill>
                  <a:srgbClr val="B9CBD6"/>
                </a:solidFill>
                <a:latin typeface="Segoe UI"/>
              </a:rPr>
              <a:t>English-only tools quietly exclude the students and switchers</a:t>
            </a:r>
            <a:endParaRPr/>
          </a:p>
          <a:p>
            <a:pPr algn="l">
              <a:lnSpc>
                <a:spcPct val="158000"/>
              </a:lnSpc>
            </a:pPr>
            <a:r>
              <a:rPr sz="1100" b="0" i="0">
                <a:solidFill>
                  <a:srgbClr val="B9CBD6"/>
                </a:solidFill>
                <a:latin typeface="Segoe UI"/>
              </a:rPr>
              <a:t>who need guidance most. PivotPathway scores every profile</a:t>
            </a:r>
            <a:endParaRPr/>
          </a:p>
          <a:p>
            <a:pPr algn="l">
              <a:lnSpc>
                <a:spcPct val="158000"/>
              </a:lnSpc>
            </a:pPr>
            <a:r>
              <a:rPr sz="1100" b="0" i="0">
                <a:solidFill>
                  <a:srgbClr val="B9CBD6"/>
                </a:solidFill>
                <a:latin typeface="Segoe UI"/>
              </a:rPr>
              <a:t>with one rigorous model — and answers in the language</a:t>
            </a:r>
            <a:endParaRPr/>
          </a:p>
          <a:p>
            <a:pPr algn="l">
              <a:lnSpc>
                <a:spcPct val="158000"/>
              </a:lnSpc>
            </a:pPr>
            <a:r>
              <a:rPr sz="1100" b="0" i="0">
                <a:solidFill>
                  <a:srgbClr val="B9CBD6"/>
                </a:solidFill>
                <a:latin typeface="Segoe UI"/>
              </a:rPr>
              <a:t>the user actually lives in.</a:t>
            </a:r>
            <a:endParaRPr/>
          </a:p>
        </p:txBody>
      </p:sp>
      <p:sp>
        <p:nvSpPr>
          <p:cNvPr id="53" name="Rectangle 9"/>
          <p:cNvSpPr/>
          <p:nvPr/>
        </p:nvSpPr>
        <p:spPr>
          <a:xfrm>
            <a:off x="6419088" y="1417320"/>
            <a:ext cx="7315" cy="448056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10"/>
          <p:cNvSpPr/>
          <p:nvPr/>
        </p:nvSpPr>
        <p:spPr>
          <a:xfrm>
            <a:off x="6812280" y="1417320"/>
            <a:ext cx="4507992" cy="9144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11"/>
          <p:cNvSpPr txBox="1"/>
          <p:nvPr/>
        </p:nvSpPr>
        <p:spPr>
          <a:xfrm>
            <a:off x="6812280" y="161848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E3A44B"/>
                </a:solidFill>
                <a:latin typeface="Segoe UI"/>
              </a:rPr>
              <a:t>01</a:t>
            </a:r>
            <a:endParaRPr/>
          </a:p>
        </p:txBody>
      </p:sp>
      <p:sp>
        <p:nvSpPr>
          <p:cNvPr id="56" name="TextBox 12"/>
          <p:cNvSpPr txBox="1"/>
          <p:nvPr/>
        </p:nvSpPr>
        <p:spPr>
          <a:xfrm>
            <a:off x="7379208" y="1545336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Malay</a:t>
            </a:r>
            <a:endParaRPr/>
          </a:p>
        </p:txBody>
      </p:sp>
      <p:sp>
        <p:nvSpPr>
          <p:cNvPr id="57" name="TextBox 13"/>
          <p:cNvSpPr txBox="1"/>
          <p:nvPr/>
        </p:nvSpPr>
        <p:spPr>
          <a:xfrm>
            <a:off x="7379208" y="2093976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B9CBD6"/>
                </a:solidFill>
                <a:latin typeface="Segoe UI"/>
              </a:rPr>
              <a:t>Intake, questions, scores and reports fully in Malay.</a:t>
            </a:r>
            <a:endParaRPr/>
          </a:p>
        </p:txBody>
      </p:sp>
      <p:sp>
        <p:nvSpPr>
          <p:cNvPr id="58" name="Rectangle 14"/>
          <p:cNvSpPr/>
          <p:nvPr/>
        </p:nvSpPr>
        <p:spPr>
          <a:xfrm>
            <a:off x="6812280" y="2697480"/>
            <a:ext cx="4507992" cy="9144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15"/>
          <p:cNvSpPr txBox="1"/>
          <p:nvPr/>
        </p:nvSpPr>
        <p:spPr>
          <a:xfrm>
            <a:off x="6812280" y="28986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E3A44B"/>
                </a:solidFill>
                <a:latin typeface="Segoe UI"/>
              </a:rPr>
              <a:t>02</a:t>
            </a:r>
            <a:endParaRPr/>
          </a:p>
        </p:txBody>
      </p:sp>
      <p:sp>
        <p:nvSpPr>
          <p:cNvPr id="60" name="TextBox 16"/>
          <p:cNvSpPr txBox="1"/>
          <p:nvPr/>
        </p:nvSpPr>
        <p:spPr>
          <a:xfrm>
            <a:off x="7379208" y="2825496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Chinese</a:t>
            </a:r>
            <a:endParaRPr/>
          </a:p>
        </p:txBody>
      </p:sp>
      <p:sp>
        <p:nvSpPr>
          <p:cNvPr id="61" name="TextBox 17"/>
          <p:cNvSpPr txBox="1"/>
          <p:nvPr/>
        </p:nvSpPr>
        <p:spPr>
          <a:xfrm>
            <a:off x="7379208" y="3374136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B9CBD6"/>
                </a:solidFill>
                <a:latin typeface="Segoe UI"/>
              </a:rPr>
              <a:t>The same depth of feedback in Chinese — not a thin translation.</a:t>
            </a:r>
            <a:endParaRPr/>
          </a:p>
        </p:txBody>
      </p:sp>
      <p:sp>
        <p:nvSpPr>
          <p:cNvPr id="62" name="Rectangle 18"/>
          <p:cNvSpPr/>
          <p:nvPr/>
        </p:nvSpPr>
        <p:spPr>
          <a:xfrm>
            <a:off x="6812280" y="3977639"/>
            <a:ext cx="4507992" cy="9144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19"/>
          <p:cNvSpPr txBox="1"/>
          <p:nvPr/>
        </p:nvSpPr>
        <p:spPr>
          <a:xfrm>
            <a:off x="6812280" y="4178807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E3A44B"/>
                </a:solidFill>
                <a:latin typeface="Segoe UI"/>
              </a:rPr>
              <a:t>03</a:t>
            </a:r>
            <a:endParaRPr/>
          </a:p>
        </p:txBody>
      </p:sp>
      <p:sp>
        <p:nvSpPr>
          <p:cNvPr id="64" name="TextBox 20"/>
          <p:cNvSpPr txBox="1"/>
          <p:nvPr/>
        </p:nvSpPr>
        <p:spPr>
          <a:xfrm>
            <a:off x="7379208" y="4105655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English</a:t>
            </a:r>
            <a:endParaRPr/>
          </a:p>
        </p:txBody>
      </p:sp>
      <p:sp>
        <p:nvSpPr>
          <p:cNvPr id="65" name="TextBox 21"/>
          <p:cNvSpPr txBox="1"/>
          <p:nvPr/>
        </p:nvSpPr>
        <p:spPr>
          <a:xfrm>
            <a:off x="7379208" y="4654296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B9CBD6"/>
                </a:solidFill>
                <a:latin typeface="Segoe UI"/>
              </a:rPr>
              <a:t>One shared standard for international graduates and global roles.</a:t>
            </a:r>
            <a:endParaRPr/>
          </a:p>
        </p:txBody>
      </p:sp>
      <p:sp>
        <p:nvSpPr>
          <p:cNvPr id="66" name="TextBox 22"/>
          <p:cNvSpPr txBox="1"/>
          <p:nvPr/>
        </p:nvSpPr>
        <p:spPr>
          <a:xfrm>
            <a:off x="6812280" y="5788152"/>
            <a:ext cx="450799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800" b="1" i="0" spc="180">
                <a:solidFill>
                  <a:srgbClr val="E3A44B"/>
                </a:solidFill>
                <a:latin typeface="Segoe UI"/>
              </a:rPr>
              <a:t>ONE ENGINE  ·  THREE LANGUAGES  ·  IDENTICAL SCORING</a:t>
            </a:r>
            <a:endParaRPr/>
          </a:p>
        </p:txBody>
      </p:sp>
      <p:sp>
        <p:nvSpPr>
          <p:cNvPr id="67" name="Oval 23"/>
          <p:cNvSpPr/>
          <p:nvPr/>
        </p:nvSpPr>
        <p:spPr>
          <a:xfrm>
            <a:off x="877824" y="5532120"/>
            <a:ext cx="128016" cy="128016"/>
          </a:xfrm>
          <a:prstGeom prst="ellipse">
            <a:avLst/>
          </a:prstGeom>
          <a:noFill/>
          <a:ln w="16510">
            <a:solidFill>
              <a:srgbClr val="E3A44B">
                <a:alpha val="90000"/>
              </a:srgbClr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24"/>
          <p:cNvSpPr txBox="1"/>
          <p:nvPr/>
        </p:nvSpPr>
        <p:spPr>
          <a:xfrm>
            <a:off x="1188720" y="55412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B9CBD6"/>
                </a:solidFill>
                <a:latin typeface="Segoe UI"/>
              </a:rPr>
              <a:t>Delivered with Rotary Club volunteers in local communities</a:t>
            </a:r>
            <a:endParaRPr/>
          </a:p>
        </p:txBody>
      </p:sp>
      <p:sp>
        <p:nvSpPr>
          <p:cNvPr id="69" name="Rectangle 25"/>
          <p:cNvSpPr/>
          <p:nvPr/>
        </p:nvSpPr>
        <p:spPr>
          <a:xfrm>
            <a:off x="868680" y="6355080"/>
            <a:ext cx="10451592" cy="9144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26"/>
          <p:cNvSpPr txBox="1"/>
          <p:nvPr/>
        </p:nvSpPr>
        <p:spPr>
          <a:xfrm>
            <a:off x="868680" y="64556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 spc="190">
                <a:solidFill>
                  <a:srgbClr val="B9CBD6"/>
                </a:solidFill>
                <a:latin typeface="Segoe UI"/>
              </a:rPr>
              <a:t>PIVOTPATHWAY   ·   SDC HACKATHON</a:t>
            </a:r>
            <a:endParaRPr/>
          </a:p>
        </p:txBody>
      </p:sp>
      <p:sp>
        <p:nvSpPr>
          <p:cNvPr id="71" name="TextBox 27"/>
          <p:cNvSpPr txBox="1"/>
          <p:nvPr/>
        </p:nvSpPr>
        <p:spPr>
          <a:xfrm>
            <a:off x="10561320" y="642823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</a:pPr>
            <a:r>
              <a:rPr sz="950" b="1" i="0" spc="120">
                <a:solidFill>
                  <a:srgbClr val="E3A44B"/>
                </a:solidFill>
                <a:latin typeface="Segoe UI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8F5EF"/>
              </a:gs>
              <a:gs pos="100000">
                <a:srgbClr val="F8F5EF"/>
              </a:gs>
            </a:gsLst>
            <a:lin ang="1890000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2"/>
          <p:cNvSpPr/>
          <p:nvPr/>
        </p:nvSpPr>
        <p:spPr>
          <a:xfrm>
            <a:off x="868680" y="731520"/>
            <a:ext cx="237744" cy="21945"/>
          </a:xfrm>
          <a:prstGeom prst="rect">
            <a:avLst/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3"/>
          <p:cNvSpPr txBox="1"/>
          <p:nvPr/>
        </p:nvSpPr>
        <p:spPr>
          <a:xfrm>
            <a:off x="1225296" y="6537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C9862E"/>
                </a:solidFill>
                <a:latin typeface="Segoe UI"/>
              </a:rPr>
              <a:t>04  —  COVERAGE</a:t>
            </a:r>
            <a:endParaRPr/>
          </a:p>
        </p:txBody>
      </p:sp>
      <p:sp>
        <p:nvSpPr>
          <p:cNvPr id="76" name="TextBox 4"/>
          <p:cNvSpPr txBox="1"/>
          <p:nvPr/>
        </p:nvSpPr>
        <p:spPr>
          <a:xfrm>
            <a:off x="841248" y="932688"/>
            <a:ext cx="8595360" cy="6858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/>
            <a:r>
              <a:rPr sz="3300" b="1" spc="-30">
                <a:solidFill>
                  <a:srgbClr val="C9862E"/>
                </a:solidFill>
                <a:latin typeface="Segoe UI"/>
              </a:rPr>
              <a:t>Forty-eight </a:t>
            </a:r>
            <a:r>
              <a:rPr sz="3300" b="1" spc="-30">
                <a:solidFill>
                  <a:srgbClr val="0C2438"/>
                </a:solidFill>
                <a:latin typeface="Segoe UI"/>
              </a:rPr>
              <a:t>career categories</a:t>
            </a:r>
            <a:endParaRPr/>
          </a:p>
        </p:txBody>
      </p:sp>
      <p:sp>
        <p:nvSpPr>
          <p:cNvPr id="77" name="TextBox 5"/>
          <p:cNvSpPr txBox="1"/>
          <p:nvPr/>
        </p:nvSpPr>
        <p:spPr>
          <a:xfrm>
            <a:off x="868680" y="1700784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6B7B85"/>
                </a:solidFill>
                <a:latin typeface="Segoe UI"/>
              </a:rPr>
              <a:t>Grouped into eight fields, six categories in each — one shared map,</a:t>
            </a:r>
            <a:endParaRPr/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6B7B85"/>
                </a:solidFill>
                <a:latin typeface="Segoe UI"/>
              </a:rPr>
              <a:t>so every profile is scored against the same structure.</a:t>
            </a:r>
            <a:endParaRPr/>
          </a:p>
        </p:txBody>
      </p:sp>
      <p:cxnSp>
        <p:nvCxnSpPr>
          <p:cNvPr id="78" name="Connector 6"/>
          <p:cNvCxnSpPr/>
          <p:nvPr/>
        </p:nvCxnSpPr>
        <p:spPr>
          <a:xfrm>
            <a:off x="861592" y="2710864"/>
            <a:ext cx="13160" cy="705414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79" name="Connector 7"/>
          <p:cNvCxnSpPr/>
          <p:nvPr/>
        </p:nvCxnSpPr>
        <p:spPr>
          <a:xfrm flipH="1">
            <a:off x="870123" y="3416278"/>
            <a:ext cx="4629" cy="720367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80" name="Connector 8"/>
          <p:cNvCxnSpPr/>
          <p:nvPr/>
        </p:nvCxnSpPr>
        <p:spPr>
          <a:xfrm flipH="1">
            <a:off x="1773707" y="2725211"/>
            <a:ext cx="825" cy="705599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81" name="Connector 9"/>
          <p:cNvCxnSpPr/>
          <p:nvPr/>
        </p:nvCxnSpPr>
        <p:spPr>
          <a:xfrm>
            <a:off x="1773707" y="3430810"/>
            <a:ext cx="1302" cy="694772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82" name="Connector 10"/>
          <p:cNvCxnSpPr/>
          <p:nvPr/>
        </p:nvCxnSpPr>
        <p:spPr>
          <a:xfrm>
            <a:off x="874752" y="3416278"/>
            <a:ext cx="898955" cy="14532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83" name="Connector 11"/>
          <p:cNvCxnSpPr/>
          <p:nvPr/>
        </p:nvCxnSpPr>
        <p:spPr>
          <a:xfrm flipV="1">
            <a:off x="2030104" y="2710599"/>
            <a:ext cx="471596" cy="1445872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84" name="Connector 12"/>
          <p:cNvCxnSpPr/>
          <p:nvPr/>
        </p:nvCxnSpPr>
        <p:spPr>
          <a:xfrm>
            <a:off x="2501700" y="2710599"/>
            <a:ext cx="454905" cy="1423744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85" name="Connector 13"/>
          <p:cNvCxnSpPr/>
          <p:nvPr/>
        </p:nvCxnSpPr>
        <p:spPr>
          <a:xfrm>
            <a:off x="2291975" y="3585967"/>
            <a:ext cx="452382" cy="18435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86" name="Connector 14"/>
          <p:cNvCxnSpPr/>
          <p:nvPr/>
        </p:nvCxnSpPr>
        <p:spPr>
          <a:xfrm flipH="1" flipV="1">
            <a:off x="3587347" y="2712027"/>
            <a:ext cx="581339" cy="149029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87" name="Connector 15"/>
          <p:cNvCxnSpPr/>
          <p:nvPr/>
        </p:nvCxnSpPr>
        <p:spPr>
          <a:xfrm flipH="1">
            <a:off x="3239273" y="2712027"/>
            <a:ext cx="348074" cy="421202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88" name="Connector 16"/>
          <p:cNvCxnSpPr/>
          <p:nvPr/>
        </p:nvCxnSpPr>
        <p:spPr>
          <a:xfrm flipH="1">
            <a:off x="3219978" y="3133229"/>
            <a:ext cx="19295" cy="583482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89" name="Connector 17"/>
          <p:cNvCxnSpPr/>
          <p:nvPr/>
        </p:nvCxnSpPr>
        <p:spPr>
          <a:xfrm>
            <a:off x="3219978" y="3716711"/>
            <a:ext cx="371193" cy="423279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90" name="Connector 18"/>
          <p:cNvCxnSpPr/>
          <p:nvPr/>
        </p:nvCxnSpPr>
        <p:spPr>
          <a:xfrm flipV="1">
            <a:off x="3591171" y="3983163"/>
            <a:ext cx="564863" cy="156827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91" name="Connector 19"/>
          <p:cNvCxnSpPr/>
          <p:nvPr/>
        </p:nvCxnSpPr>
        <p:spPr>
          <a:xfrm>
            <a:off x="4401654" y="2724778"/>
            <a:ext cx="17973" cy="738590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92" name="Connector 20"/>
          <p:cNvCxnSpPr/>
          <p:nvPr/>
        </p:nvCxnSpPr>
        <p:spPr>
          <a:xfrm flipH="1">
            <a:off x="4391331" y="3463368"/>
            <a:ext cx="28296" cy="669424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93" name="Connector 21"/>
          <p:cNvCxnSpPr/>
          <p:nvPr/>
        </p:nvCxnSpPr>
        <p:spPr>
          <a:xfrm flipH="1">
            <a:off x="4419627" y="2707410"/>
            <a:ext cx="919618" cy="755958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94" name="Connector 22"/>
          <p:cNvCxnSpPr/>
          <p:nvPr/>
        </p:nvCxnSpPr>
        <p:spPr>
          <a:xfrm>
            <a:off x="4419627" y="3463368"/>
            <a:ext cx="920991" cy="671020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95" name="Connector 23"/>
          <p:cNvCxnSpPr/>
          <p:nvPr/>
        </p:nvCxnSpPr>
        <p:spPr>
          <a:xfrm flipV="1">
            <a:off x="5591812" y="2716359"/>
            <a:ext cx="446017" cy="1425436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96" name="Connector 24"/>
          <p:cNvCxnSpPr/>
          <p:nvPr/>
        </p:nvCxnSpPr>
        <p:spPr>
          <a:xfrm>
            <a:off x="6037829" y="2716359"/>
            <a:ext cx="482746" cy="1421582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97" name="Connector 25"/>
          <p:cNvCxnSpPr/>
          <p:nvPr/>
        </p:nvCxnSpPr>
        <p:spPr>
          <a:xfrm flipV="1">
            <a:off x="5835028" y="3594856"/>
            <a:ext cx="431625" cy="3816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98" name="Connector 26"/>
          <p:cNvCxnSpPr/>
          <p:nvPr/>
        </p:nvCxnSpPr>
        <p:spPr>
          <a:xfrm>
            <a:off x="6752972" y="2711885"/>
            <a:ext cx="926896" cy="2298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99" name="Connector 27"/>
          <p:cNvCxnSpPr/>
          <p:nvPr/>
        </p:nvCxnSpPr>
        <p:spPr>
          <a:xfrm flipH="1">
            <a:off x="7219289" y="2728497"/>
            <a:ext cx="8940" cy="1393600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100" name="Connector 28"/>
          <p:cNvCxnSpPr/>
          <p:nvPr/>
        </p:nvCxnSpPr>
        <p:spPr>
          <a:xfrm flipH="1">
            <a:off x="7944940" y="2734559"/>
            <a:ext cx="7979" cy="713847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101" name="Connector 29"/>
          <p:cNvCxnSpPr/>
          <p:nvPr/>
        </p:nvCxnSpPr>
        <p:spPr>
          <a:xfrm>
            <a:off x="7944940" y="3448406"/>
            <a:ext cx="19925" cy="700908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102" name="Connector 30"/>
          <p:cNvCxnSpPr/>
          <p:nvPr/>
        </p:nvCxnSpPr>
        <p:spPr>
          <a:xfrm flipH="1">
            <a:off x="8866060" y="2720810"/>
            <a:ext cx="6644" cy="711927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103" name="Connector 31"/>
          <p:cNvCxnSpPr/>
          <p:nvPr/>
        </p:nvCxnSpPr>
        <p:spPr>
          <a:xfrm>
            <a:off x="8866060" y="3432737"/>
            <a:ext cx="254" cy="696864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104" name="Connector 32"/>
          <p:cNvCxnSpPr/>
          <p:nvPr/>
        </p:nvCxnSpPr>
        <p:spPr>
          <a:xfrm flipV="1">
            <a:off x="7944940" y="3432737"/>
            <a:ext cx="921120" cy="15669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105" name="Connector 33"/>
          <p:cNvCxnSpPr/>
          <p:nvPr/>
        </p:nvCxnSpPr>
        <p:spPr>
          <a:xfrm>
            <a:off x="9603230" y="2729501"/>
            <a:ext cx="432617" cy="457822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106" name="Connector 34"/>
          <p:cNvCxnSpPr/>
          <p:nvPr/>
        </p:nvCxnSpPr>
        <p:spPr>
          <a:xfrm>
            <a:off x="10035847" y="3187323"/>
            <a:ext cx="8000" cy="476881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107" name="Connector 35"/>
          <p:cNvCxnSpPr/>
          <p:nvPr/>
        </p:nvCxnSpPr>
        <p:spPr>
          <a:xfrm flipH="1">
            <a:off x="9572995" y="3664204"/>
            <a:ext cx="470852" cy="491884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108" name="Connector 36"/>
          <p:cNvCxnSpPr/>
          <p:nvPr/>
        </p:nvCxnSpPr>
        <p:spPr>
          <a:xfrm flipH="1" flipV="1">
            <a:off x="9146191" y="3668301"/>
            <a:ext cx="426804" cy="487787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109" name="Connector 37"/>
          <p:cNvCxnSpPr/>
          <p:nvPr/>
        </p:nvCxnSpPr>
        <p:spPr>
          <a:xfrm flipH="1" flipV="1">
            <a:off x="9125701" y="3180629"/>
            <a:ext cx="20490" cy="487672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110" name="Connector 38"/>
          <p:cNvCxnSpPr/>
          <p:nvPr/>
        </p:nvCxnSpPr>
        <p:spPr>
          <a:xfrm flipV="1">
            <a:off x="9125701" y="2729501"/>
            <a:ext cx="477529" cy="451128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111" name="Connector 39"/>
          <p:cNvCxnSpPr/>
          <p:nvPr/>
        </p:nvCxnSpPr>
        <p:spPr>
          <a:xfrm flipH="1" flipV="1">
            <a:off x="10311769" y="2708456"/>
            <a:ext cx="4636" cy="1425469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112" name="Connector 40"/>
          <p:cNvCxnSpPr/>
          <p:nvPr/>
        </p:nvCxnSpPr>
        <p:spPr>
          <a:xfrm>
            <a:off x="10311769" y="2708456"/>
            <a:ext cx="931784" cy="1434333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cxnSp>
        <p:nvCxnSpPr>
          <p:cNvPr id="113" name="Connector 41"/>
          <p:cNvCxnSpPr/>
          <p:nvPr/>
        </p:nvCxnSpPr>
        <p:spPr>
          <a:xfrm flipV="1">
            <a:off x="11243553" y="2719106"/>
            <a:ext cx="2527" cy="1423683"/>
          </a:xfrm>
          <a:prstGeom prst="line">
            <a:avLst/>
          </a:prstGeom>
          <a:ln w="7620">
            <a:solidFill>
              <a:srgbClr val="E3A44B">
                <a:alpha val="38000"/>
              </a:srgbClr>
            </a:solidFill>
          </a:ln>
          <a:effectLst/>
        </p:spPr>
      </p:cxnSp>
      <p:sp>
        <p:nvSpPr>
          <p:cNvPr id="114" name="4-Point Star 42"/>
          <p:cNvSpPr/>
          <p:nvPr/>
        </p:nvSpPr>
        <p:spPr>
          <a:xfrm>
            <a:off x="779296" y="2628568"/>
            <a:ext cx="164592" cy="164592"/>
          </a:xfrm>
          <a:prstGeom prst="star4">
            <a:avLst>
              <a:gd name="adj" fmla="val 16000"/>
            </a:avLst>
          </a:prstGeom>
          <a:solidFill>
            <a:srgbClr val="E3A44B">
              <a:alpha val="67069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4-Point Star 43"/>
          <p:cNvSpPr/>
          <p:nvPr/>
        </p:nvSpPr>
        <p:spPr>
          <a:xfrm>
            <a:off x="778740" y="3320266"/>
            <a:ext cx="192024" cy="192024"/>
          </a:xfrm>
          <a:prstGeom prst="star4">
            <a:avLst>
              <a:gd name="adj" fmla="val 16000"/>
            </a:avLst>
          </a:prstGeom>
          <a:solidFill>
            <a:srgbClr val="E3A44B">
              <a:alpha val="69333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4-Point Star 44"/>
          <p:cNvSpPr/>
          <p:nvPr/>
        </p:nvSpPr>
        <p:spPr>
          <a:xfrm>
            <a:off x="810687" y="4077209"/>
            <a:ext cx="118872" cy="118872"/>
          </a:xfrm>
          <a:prstGeom prst="star4">
            <a:avLst>
              <a:gd name="adj" fmla="val 16000"/>
            </a:avLst>
          </a:prstGeom>
          <a:solidFill>
            <a:srgbClr val="E3A44B">
              <a:alpha val="87072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4-Point Star 45"/>
          <p:cNvSpPr/>
          <p:nvPr/>
        </p:nvSpPr>
        <p:spPr>
          <a:xfrm>
            <a:off x="1678520" y="2629199"/>
            <a:ext cx="192024" cy="192024"/>
          </a:xfrm>
          <a:prstGeom prst="star4">
            <a:avLst>
              <a:gd name="adj" fmla="val 16000"/>
            </a:avLst>
          </a:prstGeom>
          <a:solidFill>
            <a:srgbClr val="E3A44B">
              <a:alpha val="9817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4-Point Star 46"/>
          <p:cNvSpPr/>
          <p:nvPr/>
        </p:nvSpPr>
        <p:spPr>
          <a:xfrm>
            <a:off x="1677695" y="3334798"/>
            <a:ext cx="192024" cy="192024"/>
          </a:xfrm>
          <a:prstGeom prst="star4">
            <a:avLst>
              <a:gd name="adj" fmla="val 16000"/>
            </a:avLst>
          </a:prstGeom>
          <a:solidFill>
            <a:srgbClr val="E3A44B">
              <a:alpha val="85494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4-Point Star 47"/>
          <p:cNvSpPr/>
          <p:nvPr/>
        </p:nvSpPr>
        <p:spPr>
          <a:xfrm>
            <a:off x="1724717" y="4075290"/>
            <a:ext cx="100584" cy="100584"/>
          </a:xfrm>
          <a:prstGeom prst="star4">
            <a:avLst>
              <a:gd name="adj" fmla="val 16000"/>
            </a:avLst>
          </a:prstGeom>
          <a:solidFill>
            <a:srgbClr val="E3A44B">
              <a:alpha val="99169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4-Point Star 48"/>
          <p:cNvSpPr/>
          <p:nvPr/>
        </p:nvSpPr>
        <p:spPr>
          <a:xfrm>
            <a:off x="1961524" y="4087891"/>
            <a:ext cx="137160" cy="137160"/>
          </a:xfrm>
          <a:prstGeom prst="star4">
            <a:avLst>
              <a:gd name="adj" fmla="val 16000"/>
            </a:avLst>
          </a:prstGeom>
          <a:solidFill>
            <a:srgbClr val="E3A44B">
              <a:alpha val="6841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4-Point Star 49"/>
          <p:cNvSpPr/>
          <p:nvPr/>
        </p:nvSpPr>
        <p:spPr>
          <a:xfrm>
            <a:off x="2451408" y="2660307"/>
            <a:ext cx="100584" cy="100584"/>
          </a:xfrm>
          <a:prstGeom prst="star4">
            <a:avLst>
              <a:gd name="adj" fmla="val 16000"/>
            </a:avLst>
          </a:prstGeom>
          <a:solidFill>
            <a:srgbClr val="E3A44B">
              <a:alpha val="84753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4-Point Star 50"/>
          <p:cNvSpPr/>
          <p:nvPr/>
        </p:nvSpPr>
        <p:spPr>
          <a:xfrm>
            <a:off x="2860593" y="4038331"/>
            <a:ext cx="192024" cy="192024"/>
          </a:xfrm>
          <a:prstGeom prst="star4">
            <a:avLst>
              <a:gd name="adj" fmla="val 16000"/>
            </a:avLst>
          </a:prstGeom>
          <a:solidFill>
            <a:srgbClr val="E3A44B">
              <a:alpha val="72209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4-Point Star 51"/>
          <p:cNvSpPr/>
          <p:nvPr/>
        </p:nvSpPr>
        <p:spPr>
          <a:xfrm>
            <a:off x="2195963" y="3489955"/>
            <a:ext cx="192024" cy="192024"/>
          </a:xfrm>
          <a:prstGeom prst="star4">
            <a:avLst>
              <a:gd name="adj" fmla="val 16000"/>
            </a:avLst>
          </a:prstGeom>
          <a:solidFill>
            <a:srgbClr val="E3A44B">
              <a:alpha val="79966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4-Point Star 52"/>
          <p:cNvSpPr/>
          <p:nvPr/>
        </p:nvSpPr>
        <p:spPr>
          <a:xfrm>
            <a:off x="2675777" y="3535822"/>
            <a:ext cx="137160" cy="137160"/>
          </a:xfrm>
          <a:prstGeom prst="star4">
            <a:avLst>
              <a:gd name="adj" fmla="val 16000"/>
            </a:avLst>
          </a:prstGeom>
          <a:solidFill>
            <a:srgbClr val="E3A44B">
              <a:alpha val="81296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4-Point Star 53"/>
          <p:cNvSpPr/>
          <p:nvPr/>
        </p:nvSpPr>
        <p:spPr>
          <a:xfrm>
            <a:off x="4072674" y="2765044"/>
            <a:ext cx="192024" cy="192024"/>
          </a:xfrm>
          <a:prstGeom prst="star4">
            <a:avLst>
              <a:gd name="adj" fmla="val 16000"/>
            </a:avLst>
          </a:prstGeom>
          <a:solidFill>
            <a:srgbClr val="E3A44B">
              <a:alpha val="79634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4-Point Star 54"/>
          <p:cNvSpPr/>
          <p:nvPr/>
        </p:nvSpPr>
        <p:spPr>
          <a:xfrm>
            <a:off x="3518767" y="2643447"/>
            <a:ext cx="137160" cy="137160"/>
          </a:xfrm>
          <a:prstGeom prst="star4">
            <a:avLst>
              <a:gd name="adj" fmla="val 16000"/>
            </a:avLst>
          </a:prstGeom>
          <a:solidFill>
            <a:srgbClr val="E3A44B">
              <a:alpha val="70319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4-Point Star 55"/>
          <p:cNvSpPr/>
          <p:nvPr/>
        </p:nvSpPr>
        <p:spPr>
          <a:xfrm>
            <a:off x="3156977" y="3050933"/>
            <a:ext cx="164592" cy="164592"/>
          </a:xfrm>
          <a:prstGeom prst="star4">
            <a:avLst>
              <a:gd name="adj" fmla="val 16000"/>
            </a:avLst>
          </a:prstGeom>
          <a:solidFill>
            <a:srgbClr val="E3A44B">
              <a:alpha val="79759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4-Point Star 56"/>
          <p:cNvSpPr/>
          <p:nvPr/>
        </p:nvSpPr>
        <p:spPr>
          <a:xfrm>
            <a:off x="3169686" y="3666419"/>
            <a:ext cx="100584" cy="100584"/>
          </a:xfrm>
          <a:prstGeom prst="star4">
            <a:avLst>
              <a:gd name="adj" fmla="val 16000"/>
            </a:avLst>
          </a:prstGeom>
          <a:solidFill>
            <a:srgbClr val="E3A44B">
              <a:alpha val="9176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4-Point Star 57"/>
          <p:cNvSpPr/>
          <p:nvPr/>
        </p:nvSpPr>
        <p:spPr>
          <a:xfrm>
            <a:off x="3495159" y="4043978"/>
            <a:ext cx="192024" cy="192024"/>
          </a:xfrm>
          <a:prstGeom prst="star4">
            <a:avLst>
              <a:gd name="adj" fmla="val 16000"/>
            </a:avLst>
          </a:prstGeom>
          <a:solidFill>
            <a:srgbClr val="E3A44B">
              <a:alpha val="92618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4-Point Star 58"/>
          <p:cNvSpPr/>
          <p:nvPr/>
        </p:nvSpPr>
        <p:spPr>
          <a:xfrm>
            <a:off x="4087454" y="3914583"/>
            <a:ext cx="137160" cy="137160"/>
          </a:xfrm>
          <a:prstGeom prst="star4">
            <a:avLst>
              <a:gd name="adj" fmla="val 16000"/>
            </a:avLst>
          </a:prstGeom>
          <a:solidFill>
            <a:srgbClr val="E3A44B">
              <a:alpha val="76904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4-Point Star 59"/>
          <p:cNvSpPr/>
          <p:nvPr/>
        </p:nvSpPr>
        <p:spPr>
          <a:xfrm>
            <a:off x="4305642" y="2628766"/>
            <a:ext cx="192024" cy="192024"/>
          </a:xfrm>
          <a:prstGeom prst="star4">
            <a:avLst>
              <a:gd name="adj" fmla="val 16000"/>
            </a:avLst>
          </a:prstGeom>
          <a:solidFill>
            <a:srgbClr val="E3A44B">
              <a:alpha val="99758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4-Point Star 60"/>
          <p:cNvSpPr/>
          <p:nvPr/>
        </p:nvSpPr>
        <p:spPr>
          <a:xfrm>
            <a:off x="4337331" y="3381072"/>
            <a:ext cx="164592" cy="164592"/>
          </a:xfrm>
          <a:prstGeom prst="star4">
            <a:avLst>
              <a:gd name="adj" fmla="val 16000"/>
            </a:avLst>
          </a:prstGeom>
          <a:solidFill>
            <a:srgbClr val="E3A44B">
              <a:alpha val="74961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4-Point Star 61"/>
          <p:cNvSpPr/>
          <p:nvPr/>
        </p:nvSpPr>
        <p:spPr>
          <a:xfrm>
            <a:off x="4309035" y="4050496"/>
            <a:ext cx="164592" cy="164592"/>
          </a:xfrm>
          <a:prstGeom prst="star4">
            <a:avLst>
              <a:gd name="adj" fmla="val 16000"/>
            </a:avLst>
          </a:prstGeom>
          <a:solidFill>
            <a:srgbClr val="E3A44B">
              <a:alpha val="96046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4-Point Star 62"/>
          <p:cNvSpPr/>
          <p:nvPr/>
        </p:nvSpPr>
        <p:spPr>
          <a:xfrm>
            <a:off x="5270665" y="2638830"/>
            <a:ext cx="137160" cy="137160"/>
          </a:xfrm>
          <a:prstGeom prst="star4">
            <a:avLst>
              <a:gd name="adj" fmla="val 16000"/>
            </a:avLst>
          </a:prstGeom>
          <a:solidFill>
            <a:srgbClr val="E3A44B">
              <a:alpha val="6579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4-Point Star 63"/>
          <p:cNvSpPr/>
          <p:nvPr/>
        </p:nvSpPr>
        <p:spPr>
          <a:xfrm>
            <a:off x="5258322" y="4052092"/>
            <a:ext cx="164592" cy="164592"/>
          </a:xfrm>
          <a:prstGeom prst="star4">
            <a:avLst>
              <a:gd name="adj" fmla="val 16000"/>
            </a:avLst>
          </a:prstGeom>
          <a:solidFill>
            <a:srgbClr val="E3A44B">
              <a:alpha val="77441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4-Point Star 64"/>
          <p:cNvSpPr/>
          <p:nvPr/>
        </p:nvSpPr>
        <p:spPr>
          <a:xfrm>
            <a:off x="5523232" y="4073215"/>
            <a:ext cx="137160" cy="137160"/>
          </a:xfrm>
          <a:prstGeom prst="star4">
            <a:avLst>
              <a:gd name="adj" fmla="val 16000"/>
            </a:avLst>
          </a:prstGeom>
          <a:solidFill>
            <a:srgbClr val="E3A44B">
              <a:alpha val="95918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4-Point Star 65"/>
          <p:cNvSpPr/>
          <p:nvPr/>
        </p:nvSpPr>
        <p:spPr>
          <a:xfrm>
            <a:off x="5955533" y="2634063"/>
            <a:ext cx="164592" cy="164592"/>
          </a:xfrm>
          <a:prstGeom prst="star4">
            <a:avLst>
              <a:gd name="adj" fmla="val 16000"/>
            </a:avLst>
          </a:prstGeom>
          <a:solidFill>
            <a:srgbClr val="E3A44B">
              <a:alpha val="95239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4-Point Star 66"/>
          <p:cNvSpPr/>
          <p:nvPr/>
        </p:nvSpPr>
        <p:spPr>
          <a:xfrm>
            <a:off x="6451995" y="4069361"/>
            <a:ext cx="137160" cy="137160"/>
          </a:xfrm>
          <a:prstGeom prst="star4">
            <a:avLst>
              <a:gd name="adj" fmla="val 16000"/>
            </a:avLst>
          </a:prstGeom>
          <a:solidFill>
            <a:srgbClr val="E3A44B">
              <a:alpha val="89724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4-Point Star 67"/>
          <p:cNvSpPr/>
          <p:nvPr/>
        </p:nvSpPr>
        <p:spPr>
          <a:xfrm>
            <a:off x="5766448" y="3530092"/>
            <a:ext cx="137160" cy="137160"/>
          </a:xfrm>
          <a:prstGeom prst="star4">
            <a:avLst>
              <a:gd name="adj" fmla="val 16000"/>
            </a:avLst>
          </a:prstGeom>
          <a:solidFill>
            <a:srgbClr val="E3A44B">
              <a:alpha val="88895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4-Point Star 68"/>
          <p:cNvSpPr/>
          <p:nvPr/>
        </p:nvSpPr>
        <p:spPr>
          <a:xfrm>
            <a:off x="6184357" y="3512560"/>
            <a:ext cx="164592" cy="164592"/>
          </a:xfrm>
          <a:prstGeom prst="star4">
            <a:avLst>
              <a:gd name="adj" fmla="val 16000"/>
            </a:avLst>
          </a:prstGeom>
          <a:solidFill>
            <a:srgbClr val="E3A44B">
              <a:alpha val="98521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4-Point Star 69"/>
          <p:cNvSpPr/>
          <p:nvPr/>
        </p:nvSpPr>
        <p:spPr>
          <a:xfrm>
            <a:off x="6670676" y="2629589"/>
            <a:ext cx="164592" cy="164592"/>
          </a:xfrm>
          <a:prstGeom prst="star4">
            <a:avLst>
              <a:gd name="adj" fmla="val 16000"/>
            </a:avLst>
          </a:prstGeom>
          <a:solidFill>
            <a:srgbClr val="E3A44B">
              <a:alpha val="83711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4-Point Star 70"/>
          <p:cNvSpPr/>
          <p:nvPr/>
        </p:nvSpPr>
        <p:spPr>
          <a:xfrm>
            <a:off x="7583856" y="2618171"/>
            <a:ext cx="192024" cy="192024"/>
          </a:xfrm>
          <a:prstGeom prst="star4">
            <a:avLst>
              <a:gd name="adj" fmla="val 16000"/>
            </a:avLst>
          </a:prstGeom>
          <a:solidFill>
            <a:srgbClr val="E3A44B">
              <a:alpha val="84822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4-Point Star 71"/>
          <p:cNvSpPr/>
          <p:nvPr/>
        </p:nvSpPr>
        <p:spPr>
          <a:xfrm>
            <a:off x="7168793" y="2669061"/>
            <a:ext cx="118872" cy="118872"/>
          </a:xfrm>
          <a:prstGeom prst="star4">
            <a:avLst>
              <a:gd name="adj" fmla="val 16000"/>
            </a:avLst>
          </a:prstGeom>
          <a:solidFill>
            <a:srgbClr val="E3A44B">
              <a:alpha val="89167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4-Point Star 72"/>
          <p:cNvSpPr/>
          <p:nvPr/>
        </p:nvSpPr>
        <p:spPr>
          <a:xfrm>
            <a:off x="7123277" y="4026085"/>
            <a:ext cx="192024" cy="192024"/>
          </a:xfrm>
          <a:prstGeom prst="star4">
            <a:avLst>
              <a:gd name="adj" fmla="val 16000"/>
            </a:avLst>
          </a:prstGeom>
          <a:solidFill>
            <a:srgbClr val="E3A44B">
              <a:alpha val="98258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4-Point Star 73"/>
          <p:cNvSpPr/>
          <p:nvPr/>
        </p:nvSpPr>
        <p:spPr>
          <a:xfrm>
            <a:off x="7893483" y="2675123"/>
            <a:ext cx="118872" cy="118872"/>
          </a:xfrm>
          <a:prstGeom prst="star4">
            <a:avLst>
              <a:gd name="adj" fmla="val 16000"/>
            </a:avLst>
          </a:prstGeom>
          <a:solidFill>
            <a:srgbClr val="E3A44B">
              <a:alpha val="80422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4-Point Star 74"/>
          <p:cNvSpPr/>
          <p:nvPr/>
        </p:nvSpPr>
        <p:spPr>
          <a:xfrm>
            <a:off x="7894648" y="3398114"/>
            <a:ext cx="100584" cy="100584"/>
          </a:xfrm>
          <a:prstGeom prst="star4">
            <a:avLst>
              <a:gd name="adj" fmla="val 16000"/>
            </a:avLst>
          </a:prstGeom>
          <a:solidFill>
            <a:srgbClr val="E3A44B">
              <a:alpha val="76902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4-Point Star 75"/>
          <p:cNvSpPr/>
          <p:nvPr/>
        </p:nvSpPr>
        <p:spPr>
          <a:xfrm>
            <a:off x="7914573" y="4099022"/>
            <a:ext cx="100584" cy="100584"/>
          </a:xfrm>
          <a:prstGeom prst="star4">
            <a:avLst>
              <a:gd name="adj" fmla="val 16000"/>
            </a:avLst>
          </a:prstGeom>
          <a:solidFill>
            <a:srgbClr val="E3A44B">
              <a:alpha val="68583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4-Point Star 76"/>
          <p:cNvSpPr/>
          <p:nvPr/>
        </p:nvSpPr>
        <p:spPr>
          <a:xfrm>
            <a:off x="8776692" y="2624798"/>
            <a:ext cx="192024" cy="192024"/>
          </a:xfrm>
          <a:prstGeom prst="star4">
            <a:avLst>
              <a:gd name="adj" fmla="val 16000"/>
            </a:avLst>
          </a:prstGeom>
          <a:solidFill>
            <a:srgbClr val="E3A44B">
              <a:alpha val="70294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4-Point Star 77"/>
          <p:cNvSpPr/>
          <p:nvPr/>
        </p:nvSpPr>
        <p:spPr>
          <a:xfrm>
            <a:off x="8815768" y="3382445"/>
            <a:ext cx="100584" cy="100584"/>
          </a:xfrm>
          <a:prstGeom prst="star4">
            <a:avLst>
              <a:gd name="adj" fmla="val 16000"/>
            </a:avLst>
          </a:prstGeom>
          <a:solidFill>
            <a:srgbClr val="E3A44B">
              <a:alpha val="98213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4-Point Star 78"/>
          <p:cNvSpPr/>
          <p:nvPr/>
        </p:nvSpPr>
        <p:spPr>
          <a:xfrm>
            <a:off x="8770302" y="4033589"/>
            <a:ext cx="192024" cy="192024"/>
          </a:xfrm>
          <a:prstGeom prst="star4">
            <a:avLst>
              <a:gd name="adj" fmla="val 16000"/>
            </a:avLst>
          </a:prstGeom>
          <a:solidFill>
            <a:srgbClr val="E3A44B">
              <a:alpha val="65893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4-Point Star 79"/>
          <p:cNvSpPr/>
          <p:nvPr/>
        </p:nvSpPr>
        <p:spPr>
          <a:xfrm>
            <a:off x="9552938" y="2679209"/>
            <a:ext cx="100584" cy="100584"/>
          </a:xfrm>
          <a:prstGeom prst="star4">
            <a:avLst>
              <a:gd name="adj" fmla="val 16000"/>
            </a:avLst>
          </a:prstGeom>
          <a:solidFill>
            <a:srgbClr val="E3A44B">
              <a:alpha val="91239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4-Point Star 80"/>
          <p:cNvSpPr/>
          <p:nvPr/>
        </p:nvSpPr>
        <p:spPr>
          <a:xfrm>
            <a:off x="9967267" y="3118743"/>
            <a:ext cx="137160" cy="137160"/>
          </a:xfrm>
          <a:prstGeom prst="star4">
            <a:avLst>
              <a:gd name="adj" fmla="val 16000"/>
            </a:avLst>
          </a:prstGeom>
          <a:solidFill>
            <a:srgbClr val="E3A44B">
              <a:alpha val="81752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4-Point Star 81"/>
          <p:cNvSpPr/>
          <p:nvPr/>
        </p:nvSpPr>
        <p:spPr>
          <a:xfrm>
            <a:off x="9984411" y="3604768"/>
            <a:ext cx="118872" cy="118872"/>
          </a:xfrm>
          <a:prstGeom prst="star4">
            <a:avLst>
              <a:gd name="adj" fmla="val 16000"/>
            </a:avLst>
          </a:prstGeom>
          <a:solidFill>
            <a:srgbClr val="E3A44B">
              <a:alpha val="83072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4-Point Star 82"/>
          <p:cNvSpPr/>
          <p:nvPr/>
        </p:nvSpPr>
        <p:spPr>
          <a:xfrm>
            <a:off x="9513559" y="4096652"/>
            <a:ext cx="118872" cy="118872"/>
          </a:xfrm>
          <a:prstGeom prst="star4">
            <a:avLst>
              <a:gd name="adj" fmla="val 16000"/>
            </a:avLst>
          </a:prstGeom>
          <a:solidFill>
            <a:srgbClr val="E3A44B">
              <a:alpha val="98284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4-Point Star 83"/>
          <p:cNvSpPr/>
          <p:nvPr/>
        </p:nvSpPr>
        <p:spPr>
          <a:xfrm>
            <a:off x="9050179" y="3572289"/>
            <a:ext cx="192024" cy="192024"/>
          </a:xfrm>
          <a:prstGeom prst="star4">
            <a:avLst>
              <a:gd name="adj" fmla="val 16000"/>
            </a:avLst>
          </a:prstGeom>
          <a:solidFill>
            <a:srgbClr val="E3A44B">
              <a:alpha val="77661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4-Point Star 84"/>
          <p:cNvSpPr/>
          <p:nvPr/>
        </p:nvSpPr>
        <p:spPr>
          <a:xfrm>
            <a:off x="9029689" y="3084617"/>
            <a:ext cx="192024" cy="192024"/>
          </a:xfrm>
          <a:prstGeom prst="star4">
            <a:avLst>
              <a:gd name="adj" fmla="val 16000"/>
            </a:avLst>
          </a:prstGeom>
          <a:solidFill>
            <a:srgbClr val="E3A44B">
              <a:alpha val="96995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4-Point Star 85"/>
          <p:cNvSpPr/>
          <p:nvPr/>
        </p:nvSpPr>
        <p:spPr>
          <a:xfrm>
            <a:off x="10220393" y="4037913"/>
            <a:ext cx="192024" cy="192024"/>
          </a:xfrm>
          <a:prstGeom prst="star4">
            <a:avLst>
              <a:gd name="adj" fmla="val 16000"/>
            </a:avLst>
          </a:prstGeom>
          <a:solidFill>
            <a:srgbClr val="E3A44B">
              <a:alpha val="76538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4-Point Star 86"/>
          <p:cNvSpPr/>
          <p:nvPr/>
        </p:nvSpPr>
        <p:spPr>
          <a:xfrm>
            <a:off x="10252333" y="2649020"/>
            <a:ext cx="118872" cy="118872"/>
          </a:xfrm>
          <a:prstGeom prst="star4">
            <a:avLst>
              <a:gd name="adj" fmla="val 16000"/>
            </a:avLst>
          </a:prstGeom>
          <a:solidFill>
            <a:srgbClr val="E3A44B">
              <a:alpha val="86463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4-Point Star 87"/>
          <p:cNvSpPr/>
          <p:nvPr/>
        </p:nvSpPr>
        <p:spPr>
          <a:xfrm>
            <a:off x="11184117" y="4083353"/>
            <a:ext cx="118872" cy="118872"/>
          </a:xfrm>
          <a:prstGeom prst="star4">
            <a:avLst>
              <a:gd name="adj" fmla="val 16000"/>
            </a:avLst>
          </a:prstGeom>
          <a:solidFill>
            <a:srgbClr val="E3A44B">
              <a:alpha val="93213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4-Point Star 88"/>
          <p:cNvSpPr/>
          <p:nvPr/>
        </p:nvSpPr>
        <p:spPr>
          <a:xfrm>
            <a:off x="11163784" y="2636810"/>
            <a:ext cx="164592" cy="164592"/>
          </a:xfrm>
          <a:prstGeom prst="star4">
            <a:avLst>
              <a:gd name="adj" fmla="val 16000"/>
            </a:avLst>
          </a:prstGeom>
          <a:solidFill>
            <a:srgbClr val="E3A44B">
              <a:alpha val="90896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4-Point Star 89"/>
          <p:cNvSpPr/>
          <p:nvPr/>
        </p:nvSpPr>
        <p:spPr>
          <a:xfrm>
            <a:off x="10697248" y="3375716"/>
            <a:ext cx="118872" cy="118872"/>
          </a:xfrm>
          <a:prstGeom prst="star4">
            <a:avLst>
              <a:gd name="adj" fmla="val 16000"/>
            </a:avLst>
          </a:prstGeom>
          <a:solidFill>
            <a:srgbClr val="E3A44B">
              <a:alpha val="71997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90"/>
          <p:cNvSpPr txBox="1"/>
          <p:nvPr/>
        </p:nvSpPr>
        <p:spPr>
          <a:xfrm>
            <a:off x="868680" y="4553712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 spc="180">
                <a:solidFill>
                  <a:srgbClr val="C9862E"/>
                </a:solidFill>
                <a:latin typeface="Segoe UI"/>
              </a:rPr>
              <a:t>INSIDE EVERY CATEGORY</a:t>
            </a:r>
            <a:endParaRPr/>
          </a:p>
        </p:txBody>
      </p:sp>
      <p:sp>
        <p:nvSpPr>
          <p:cNvPr id="163" name="4-Point Star 91"/>
          <p:cNvSpPr/>
          <p:nvPr/>
        </p:nvSpPr>
        <p:spPr>
          <a:xfrm>
            <a:off x="877824" y="4864607"/>
            <a:ext cx="128016" cy="128016"/>
          </a:xfrm>
          <a:prstGeom prst="star4">
            <a:avLst>
              <a:gd name="adj" fmla="val 16000"/>
            </a:avLst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92"/>
          <p:cNvSpPr txBox="1"/>
          <p:nvPr/>
        </p:nvSpPr>
        <p:spPr>
          <a:xfrm>
            <a:off x="1161288" y="4837176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6252E"/>
                </a:solidFill>
                <a:latin typeface="Segoe UI"/>
              </a:rPr>
              <a:t>Role families and job titles</a:t>
            </a:r>
            <a:endParaRPr/>
          </a:p>
        </p:txBody>
      </p:sp>
      <p:sp>
        <p:nvSpPr>
          <p:cNvPr id="165" name="4-Point Star 93"/>
          <p:cNvSpPr/>
          <p:nvPr/>
        </p:nvSpPr>
        <p:spPr>
          <a:xfrm>
            <a:off x="3547872" y="4864607"/>
            <a:ext cx="128016" cy="128016"/>
          </a:xfrm>
          <a:prstGeom prst="star4">
            <a:avLst>
              <a:gd name="adj" fmla="val 16000"/>
            </a:avLst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94"/>
          <p:cNvSpPr txBox="1"/>
          <p:nvPr/>
        </p:nvSpPr>
        <p:spPr>
          <a:xfrm>
            <a:off x="3831336" y="4837176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6252E"/>
                </a:solidFill>
                <a:latin typeface="Segoe UI"/>
              </a:rPr>
              <a:t>Skills and qualifications</a:t>
            </a:r>
            <a:endParaRPr/>
          </a:p>
        </p:txBody>
      </p:sp>
      <p:sp>
        <p:nvSpPr>
          <p:cNvPr id="167" name="4-Point Star 95"/>
          <p:cNvSpPr/>
          <p:nvPr/>
        </p:nvSpPr>
        <p:spPr>
          <a:xfrm>
            <a:off x="6217920" y="4864607"/>
            <a:ext cx="128016" cy="128016"/>
          </a:xfrm>
          <a:prstGeom prst="star4">
            <a:avLst>
              <a:gd name="adj" fmla="val 16000"/>
            </a:avLst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96"/>
          <p:cNvSpPr txBox="1"/>
          <p:nvPr/>
        </p:nvSpPr>
        <p:spPr>
          <a:xfrm>
            <a:off x="6501384" y="4837176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6252E"/>
                </a:solidFill>
                <a:latin typeface="Segoe UI"/>
              </a:rPr>
              <a:t>Salary bands and progression</a:t>
            </a:r>
            <a:endParaRPr/>
          </a:p>
        </p:txBody>
      </p:sp>
      <p:sp>
        <p:nvSpPr>
          <p:cNvPr id="169" name="4-Point Star 97"/>
          <p:cNvSpPr/>
          <p:nvPr/>
        </p:nvSpPr>
        <p:spPr>
          <a:xfrm>
            <a:off x="8887967" y="4864607"/>
            <a:ext cx="128016" cy="128016"/>
          </a:xfrm>
          <a:prstGeom prst="star4">
            <a:avLst>
              <a:gd name="adj" fmla="val 16000"/>
            </a:avLst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98"/>
          <p:cNvSpPr txBox="1"/>
          <p:nvPr/>
        </p:nvSpPr>
        <p:spPr>
          <a:xfrm>
            <a:off x="9171432" y="4837176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6252E"/>
                </a:solidFill>
                <a:latin typeface="Segoe UI"/>
              </a:rPr>
              <a:t>An AI-exposure score</a:t>
            </a:r>
            <a:endParaRPr/>
          </a:p>
        </p:txBody>
      </p:sp>
      <p:sp>
        <p:nvSpPr>
          <p:cNvPr id="171" name="4-Point Star 99"/>
          <p:cNvSpPr/>
          <p:nvPr/>
        </p:nvSpPr>
        <p:spPr>
          <a:xfrm>
            <a:off x="868680" y="5330952"/>
            <a:ext cx="128016" cy="128016"/>
          </a:xfrm>
          <a:prstGeom prst="star4">
            <a:avLst>
              <a:gd name="adj" fmla="val 16000"/>
            </a:avLst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00"/>
          <p:cNvSpPr txBox="1"/>
          <p:nvPr/>
        </p:nvSpPr>
        <p:spPr>
          <a:xfrm>
            <a:off x="1170432" y="5312664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6B7B85"/>
                </a:solidFill>
                <a:latin typeface="Segoe UI"/>
              </a:rPr>
              <a:t>ONE CAREER CATEGORY</a:t>
            </a:r>
            <a:endParaRPr/>
          </a:p>
        </p:txBody>
      </p:sp>
      <p:sp>
        <p:nvSpPr>
          <p:cNvPr id="173" name="Rectangle 101"/>
          <p:cNvSpPr/>
          <p:nvPr/>
        </p:nvSpPr>
        <p:spPr>
          <a:xfrm>
            <a:off x="2944368" y="5321808"/>
            <a:ext cx="7315" cy="173736"/>
          </a:xfrm>
          <a:prstGeom prst="rect">
            <a:avLst/>
          </a:prstGeom>
          <a:solidFill>
            <a:srgbClr val="0C2438">
              <a:alpha val="2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02"/>
          <p:cNvSpPr txBox="1"/>
          <p:nvPr/>
        </p:nvSpPr>
        <p:spPr>
          <a:xfrm>
            <a:off x="3108960" y="5312664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6B7B85"/>
                </a:solidFill>
                <a:latin typeface="Segoe UI"/>
              </a:rPr>
              <a:t>48 STARS IN TOTAL</a:t>
            </a:r>
            <a:endParaRPr/>
          </a:p>
        </p:txBody>
      </p:sp>
      <p:sp>
        <p:nvSpPr>
          <p:cNvPr id="175" name="Rectangle 103"/>
          <p:cNvSpPr/>
          <p:nvPr/>
        </p:nvSpPr>
        <p:spPr>
          <a:xfrm>
            <a:off x="868680" y="5870448"/>
            <a:ext cx="10451592" cy="9144"/>
          </a:xfrm>
          <a:prstGeom prst="rect">
            <a:avLst/>
          </a:prstGeom>
          <a:solidFill>
            <a:srgbClr val="0C2438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04"/>
          <p:cNvSpPr txBox="1"/>
          <p:nvPr/>
        </p:nvSpPr>
        <p:spPr>
          <a:xfrm>
            <a:off x="868680" y="5961888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C2438"/>
                </a:solidFill>
                <a:latin typeface="Segoe UI"/>
              </a:rPr>
              <a:t>8</a:t>
            </a:r>
            <a:endParaRPr/>
          </a:p>
        </p:txBody>
      </p:sp>
      <p:sp>
        <p:nvSpPr>
          <p:cNvPr id="177" name="TextBox 105"/>
          <p:cNvSpPr txBox="1"/>
          <p:nvPr/>
        </p:nvSpPr>
        <p:spPr>
          <a:xfrm>
            <a:off x="1188720" y="604418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 spc="160">
                <a:solidFill>
                  <a:srgbClr val="6B7B85"/>
                </a:solidFill>
                <a:latin typeface="Segoe UI"/>
              </a:rPr>
              <a:t>CAREER FIELDS</a:t>
            </a:r>
            <a:endParaRPr/>
          </a:p>
        </p:txBody>
      </p:sp>
      <p:sp>
        <p:nvSpPr>
          <p:cNvPr id="178" name="TextBox 106"/>
          <p:cNvSpPr txBox="1"/>
          <p:nvPr/>
        </p:nvSpPr>
        <p:spPr>
          <a:xfrm>
            <a:off x="3154680" y="5961888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C9862E"/>
                </a:solidFill>
                <a:latin typeface="Segoe UI"/>
              </a:rPr>
              <a:t>48</a:t>
            </a:r>
            <a:endParaRPr/>
          </a:p>
        </p:txBody>
      </p:sp>
      <p:sp>
        <p:nvSpPr>
          <p:cNvPr id="179" name="TextBox 107"/>
          <p:cNvSpPr txBox="1"/>
          <p:nvPr/>
        </p:nvSpPr>
        <p:spPr>
          <a:xfrm>
            <a:off x="3611880" y="6044184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 spc="160">
                <a:solidFill>
                  <a:srgbClr val="6B7B85"/>
                </a:solidFill>
                <a:latin typeface="Segoe UI"/>
              </a:rPr>
              <a:t>CAREER CATEGORIES</a:t>
            </a:r>
            <a:endParaRPr/>
          </a:p>
        </p:txBody>
      </p:sp>
      <p:sp>
        <p:nvSpPr>
          <p:cNvPr id="180" name="TextBox 108"/>
          <p:cNvSpPr txBox="1"/>
          <p:nvPr/>
        </p:nvSpPr>
        <p:spPr>
          <a:xfrm>
            <a:off x="6766560" y="6025896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6B7B85"/>
                </a:solidFill>
                <a:latin typeface="Segoe UI"/>
              </a:rPr>
              <a:t>Reviewed every season — new roles enter the map, outdated ones leave.</a:t>
            </a:r>
            <a:endParaRPr/>
          </a:p>
        </p:txBody>
      </p:sp>
      <p:sp>
        <p:nvSpPr>
          <p:cNvPr id="181" name="Rectangle 109"/>
          <p:cNvSpPr/>
          <p:nvPr/>
        </p:nvSpPr>
        <p:spPr>
          <a:xfrm>
            <a:off x="868680" y="6355080"/>
            <a:ext cx="10451592" cy="9144"/>
          </a:xfrm>
          <a:prstGeom prst="rect">
            <a:avLst/>
          </a:prstGeom>
          <a:solidFill>
            <a:srgbClr val="0C2438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10"/>
          <p:cNvSpPr txBox="1"/>
          <p:nvPr/>
        </p:nvSpPr>
        <p:spPr>
          <a:xfrm>
            <a:off x="868680" y="64556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 spc="190">
                <a:solidFill>
                  <a:srgbClr val="6B7B85"/>
                </a:solidFill>
                <a:latin typeface="Segoe UI"/>
              </a:rPr>
              <a:t>PIVOTPATHWAY   ·   SDC HACKATHON</a:t>
            </a:r>
            <a:endParaRPr/>
          </a:p>
        </p:txBody>
      </p:sp>
      <p:sp>
        <p:nvSpPr>
          <p:cNvPr id="183" name="TextBox 111"/>
          <p:cNvSpPr txBox="1"/>
          <p:nvPr/>
        </p:nvSpPr>
        <p:spPr>
          <a:xfrm>
            <a:off x="10561320" y="642823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</a:pPr>
            <a:r>
              <a:rPr sz="950" b="1" i="0" spc="120">
                <a:solidFill>
                  <a:srgbClr val="C9862E"/>
                </a:solidFill>
                <a:latin typeface="Segoe UI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2438"/>
              </a:gs>
              <a:gs pos="100000">
                <a:srgbClr val="061420"/>
              </a:gs>
            </a:gsLst>
            <a:lin ang="1890000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2"/>
          <p:cNvSpPr/>
          <p:nvPr/>
        </p:nvSpPr>
        <p:spPr>
          <a:xfrm>
            <a:off x="868680" y="731520"/>
            <a:ext cx="237744" cy="21945"/>
          </a:xfrm>
          <a:prstGeom prst="rect">
            <a:avLst/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3"/>
          <p:cNvSpPr txBox="1"/>
          <p:nvPr/>
        </p:nvSpPr>
        <p:spPr>
          <a:xfrm>
            <a:off x="1225296" y="6537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E3A44B"/>
                </a:solidFill>
                <a:latin typeface="Segoe UI"/>
              </a:rPr>
              <a:t>05  —  SDG ALIGNMENT</a:t>
            </a:r>
            <a:endParaRPr/>
          </a:p>
        </p:txBody>
      </p:sp>
      <p:sp>
        <p:nvSpPr>
          <p:cNvPr id="188" name="TextBox 4"/>
          <p:cNvSpPr txBox="1"/>
          <p:nvPr/>
        </p:nvSpPr>
        <p:spPr>
          <a:xfrm>
            <a:off x="841248" y="932688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3300" b="1" i="0" spc="-30">
                <a:solidFill>
                  <a:srgbClr val="FFFFFF"/>
                </a:solidFill>
                <a:latin typeface="Segoe UI"/>
              </a:rPr>
              <a:t>Three SDGs, three specific targets</a:t>
            </a:r>
            <a:endParaRPr/>
          </a:p>
        </p:txBody>
      </p:sp>
      <p:sp>
        <p:nvSpPr>
          <p:cNvPr id="189" name="TextBox 5"/>
          <p:cNvSpPr txBox="1"/>
          <p:nvPr/>
        </p:nvSpPr>
        <p:spPr>
          <a:xfrm>
            <a:off x="868680" y="1673352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B9CBD6"/>
                </a:solidFill>
                <a:latin typeface="Segoe UI"/>
              </a:rPr>
              <a:t>We report against the target, not just the badge — and deliver it with Rotary Club community programmes.</a:t>
            </a:r>
            <a:endParaRPr/>
          </a:p>
        </p:txBody>
      </p:sp>
      <p:sp>
        <p:nvSpPr>
          <p:cNvPr id="190" name="Rectangle 6"/>
          <p:cNvSpPr/>
          <p:nvPr/>
        </p:nvSpPr>
        <p:spPr>
          <a:xfrm>
            <a:off x="868680" y="2304288"/>
            <a:ext cx="3310128" cy="50292"/>
          </a:xfrm>
          <a:prstGeom prst="rect">
            <a:avLst/>
          </a:prstGeom>
          <a:solidFill>
            <a:srgbClr val="E03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7"/>
          <p:cNvSpPr txBox="1"/>
          <p:nvPr/>
        </p:nvSpPr>
        <p:spPr>
          <a:xfrm>
            <a:off x="868680" y="246888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800" b="1" i="0" spc="220">
                <a:solidFill>
                  <a:srgbClr val="E03B4B"/>
                </a:solidFill>
                <a:latin typeface="Segoe UI"/>
              </a:rPr>
              <a:t>SDG 4</a:t>
            </a:r>
            <a:endParaRPr/>
          </a:p>
        </p:txBody>
      </p:sp>
      <p:sp>
        <p:nvSpPr>
          <p:cNvPr id="192" name="TextBox 8"/>
          <p:cNvSpPr txBox="1"/>
          <p:nvPr/>
        </p:nvSpPr>
        <p:spPr>
          <a:xfrm>
            <a:off x="868680" y="2706624"/>
            <a:ext cx="3218688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Quality</a:t>
            </a:r>
            <a:endParaRPr/>
          </a:p>
          <a:p>
            <a:pPr algn="l">
              <a:lnSpc>
                <a:spcPct val="116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education</a:t>
            </a:r>
            <a:endParaRPr/>
          </a:p>
        </p:txBody>
      </p:sp>
      <p:sp>
        <p:nvSpPr>
          <p:cNvPr id="193" name="TextBox 9"/>
          <p:cNvSpPr txBox="1"/>
          <p:nvPr/>
        </p:nvSpPr>
        <p:spPr>
          <a:xfrm>
            <a:off x="868680" y="3529584"/>
            <a:ext cx="3172968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B9CBD6"/>
                </a:solidFill>
                <a:latin typeface="Segoe UI"/>
              </a:rPr>
              <a:t>Ensure inclusive and equitable quality education and promote lifelong learning opportunities for all.</a:t>
            </a:r>
            <a:endParaRPr/>
          </a:p>
        </p:txBody>
      </p:sp>
      <p:sp>
        <p:nvSpPr>
          <p:cNvPr id="194" name="Rectangle 10"/>
          <p:cNvSpPr/>
          <p:nvPr/>
        </p:nvSpPr>
        <p:spPr>
          <a:xfrm>
            <a:off x="868680" y="4315968"/>
            <a:ext cx="3310128" cy="7315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1"/>
          <p:cNvSpPr txBox="1"/>
          <p:nvPr/>
        </p:nvSpPr>
        <p:spPr>
          <a:xfrm>
            <a:off x="868680" y="442569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 spc="180">
                <a:solidFill>
                  <a:srgbClr val="E3A44B"/>
                </a:solidFill>
                <a:latin typeface="Segoe UI"/>
              </a:rPr>
              <a:t>TARGET 4.4</a:t>
            </a:r>
            <a:endParaRPr/>
          </a:p>
        </p:txBody>
      </p:sp>
      <p:sp>
        <p:nvSpPr>
          <p:cNvPr id="196" name="TextBox 12"/>
          <p:cNvSpPr txBox="1"/>
          <p:nvPr/>
        </p:nvSpPr>
        <p:spPr>
          <a:xfrm>
            <a:off x="868680" y="4645152"/>
            <a:ext cx="317296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FFFFFF"/>
                </a:solidFill>
                <a:latin typeface="Segoe UI"/>
              </a:rPr>
              <a:t>Substantially increase the number of youth and adults who have the skills they need for employment, decent jobs and entrepreneurship.</a:t>
            </a:r>
            <a:endParaRPr/>
          </a:p>
        </p:txBody>
      </p:sp>
      <p:sp>
        <p:nvSpPr>
          <p:cNvPr id="197" name="4-Point Star 13"/>
          <p:cNvSpPr/>
          <p:nvPr/>
        </p:nvSpPr>
        <p:spPr>
          <a:xfrm>
            <a:off x="873252" y="5692140"/>
            <a:ext cx="100584" cy="100584"/>
          </a:xfrm>
          <a:prstGeom prst="star4">
            <a:avLst>
              <a:gd name="adj" fmla="val 16000"/>
            </a:avLst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4"/>
          <p:cNvSpPr txBox="1"/>
          <p:nvPr/>
        </p:nvSpPr>
        <p:spPr>
          <a:xfrm>
            <a:off x="1106424" y="5650992"/>
            <a:ext cx="305409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B9CBD6"/>
                </a:solidFill>
                <a:latin typeface="Georgia"/>
              </a:rPr>
              <a:t>A free assessment that turns a CV into a learning plan.</a:t>
            </a:r>
            <a:endParaRPr/>
          </a:p>
        </p:txBody>
      </p:sp>
      <p:sp>
        <p:nvSpPr>
          <p:cNvPr id="199" name="Rectangle 15"/>
          <p:cNvSpPr/>
          <p:nvPr/>
        </p:nvSpPr>
        <p:spPr>
          <a:xfrm>
            <a:off x="4439412" y="2304288"/>
            <a:ext cx="3310128" cy="50292"/>
          </a:xfrm>
          <a:prstGeom prst="rect">
            <a:avLst/>
          </a:prstGeom>
          <a:solidFill>
            <a:srgbClr val="BE3A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6"/>
          <p:cNvSpPr txBox="1"/>
          <p:nvPr/>
        </p:nvSpPr>
        <p:spPr>
          <a:xfrm>
            <a:off x="4439412" y="246888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800" b="1" i="0" spc="220">
                <a:solidFill>
                  <a:srgbClr val="BE3A5E"/>
                </a:solidFill>
                <a:latin typeface="Segoe UI"/>
              </a:rPr>
              <a:t>SDG 8</a:t>
            </a:r>
            <a:endParaRPr/>
          </a:p>
        </p:txBody>
      </p:sp>
      <p:sp>
        <p:nvSpPr>
          <p:cNvPr id="201" name="TextBox 17"/>
          <p:cNvSpPr txBox="1"/>
          <p:nvPr/>
        </p:nvSpPr>
        <p:spPr>
          <a:xfrm>
            <a:off x="4439412" y="2706624"/>
            <a:ext cx="3218688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Decent work and</a:t>
            </a:r>
            <a:endParaRPr/>
          </a:p>
          <a:p>
            <a:pPr algn="l">
              <a:lnSpc>
                <a:spcPct val="116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economic growth</a:t>
            </a:r>
            <a:endParaRPr/>
          </a:p>
        </p:txBody>
      </p:sp>
      <p:sp>
        <p:nvSpPr>
          <p:cNvPr id="202" name="TextBox 18"/>
          <p:cNvSpPr txBox="1"/>
          <p:nvPr/>
        </p:nvSpPr>
        <p:spPr>
          <a:xfrm>
            <a:off x="4439412" y="3529584"/>
            <a:ext cx="3172968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B9CBD6"/>
                </a:solidFill>
                <a:latin typeface="Segoe UI"/>
              </a:rPr>
              <a:t>Promote sustained, inclusive and sustainable economic growth, full and productive employment and decent work for all.</a:t>
            </a:r>
            <a:endParaRPr/>
          </a:p>
        </p:txBody>
      </p:sp>
      <p:sp>
        <p:nvSpPr>
          <p:cNvPr id="203" name="Rectangle 19"/>
          <p:cNvSpPr/>
          <p:nvPr/>
        </p:nvSpPr>
        <p:spPr>
          <a:xfrm>
            <a:off x="4439412" y="4315968"/>
            <a:ext cx="3310128" cy="7315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"/>
          <p:cNvSpPr txBox="1"/>
          <p:nvPr/>
        </p:nvSpPr>
        <p:spPr>
          <a:xfrm>
            <a:off x="4439412" y="442569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 spc="180">
                <a:solidFill>
                  <a:srgbClr val="E3A44B"/>
                </a:solidFill>
                <a:latin typeface="Segoe UI"/>
              </a:rPr>
              <a:t>TARGET 8.6</a:t>
            </a:r>
            <a:endParaRPr/>
          </a:p>
        </p:txBody>
      </p:sp>
      <p:sp>
        <p:nvSpPr>
          <p:cNvPr id="205" name="TextBox 21"/>
          <p:cNvSpPr txBox="1"/>
          <p:nvPr/>
        </p:nvSpPr>
        <p:spPr>
          <a:xfrm>
            <a:off x="4439412" y="4645152"/>
            <a:ext cx="317296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FFFFFF"/>
                </a:solidFill>
                <a:latin typeface="Segoe UI"/>
              </a:rPr>
              <a:t>Substantially reduce the proportion of young people not in employment, education or training.</a:t>
            </a:r>
            <a:endParaRPr/>
          </a:p>
        </p:txBody>
      </p:sp>
      <p:sp>
        <p:nvSpPr>
          <p:cNvPr id="206" name="4-Point Star 22"/>
          <p:cNvSpPr/>
          <p:nvPr/>
        </p:nvSpPr>
        <p:spPr>
          <a:xfrm>
            <a:off x="4443984" y="5692140"/>
            <a:ext cx="100584" cy="100584"/>
          </a:xfrm>
          <a:prstGeom prst="star4">
            <a:avLst>
              <a:gd name="adj" fmla="val 16000"/>
            </a:avLst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3"/>
          <p:cNvSpPr txBox="1"/>
          <p:nvPr/>
        </p:nvSpPr>
        <p:spPr>
          <a:xfrm>
            <a:off x="4677156" y="5650992"/>
            <a:ext cx="305409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B9CBD6"/>
                </a:solidFill>
                <a:latin typeface="Georgia"/>
              </a:rPr>
              <a:t>A shorter, better-informed route from study to a decent first job.</a:t>
            </a:r>
            <a:endParaRPr/>
          </a:p>
        </p:txBody>
      </p:sp>
      <p:sp>
        <p:nvSpPr>
          <p:cNvPr id="208" name="Rectangle 24"/>
          <p:cNvSpPr/>
          <p:nvPr/>
        </p:nvSpPr>
        <p:spPr>
          <a:xfrm>
            <a:off x="8010144" y="2304288"/>
            <a:ext cx="3310128" cy="50292"/>
          </a:xfrm>
          <a:prstGeom prst="rect">
            <a:avLst/>
          </a:prstGeom>
          <a:solidFill>
            <a:srgbClr val="EE47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5"/>
          <p:cNvSpPr txBox="1"/>
          <p:nvPr/>
        </p:nvSpPr>
        <p:spPr>
          <a:xfrm>
            <a:off x="8010144" y="246888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800" b="1" i="0" spc="220">
                <a:solidFill>
                  <a:srgbClr val="EE4786"/>
                </a:solidFill>
                <a:latin typeface="Segoe UI"/>
              </a:rPr>
              <a:t>SDG 10</a:t>
            </a:r>
            <a:endParaRPr/>
          </a:p>
        </p:txBody>
      </p:sp>
      <p:sp>
        <p:nvSpPr>
          <p:cNvPr id="210" name="TextBox 26"/>
          <p:cNvSpPr txBox="1"/>
          <p:nvPr/>
        </p:nvSpPr>
        <p:spPr>
          <a:xfrm>
            <a:off x="8010144" y="2706624"/>
            <a:ext cx="3218688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Reduced</a:t>
            </a:r>
            <a:endParaRPr/>
          </a:p>
          <a:p>
            <a:pPr algn="l">
              <a:lnSpc>
                <a:spcPct val="116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inequalities</a:t>
            </a:r>
            <a:endParaRPr/>
          </a:p>
        </p:txBody>
      </p:sp>
      <p:sp>
        <p:nvSpPr>
          <p:cNvPr id="211" name="TextBox 27"/>
          <p:cNvSpPr txBox="1"/>
          <p:nvPr/>
        </p:nvSpPr>
        <p:spPr>
          <a:xfrm>
            <a:off x="8010144" y="3529584"/>
            <a:ext cx="3172968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B9CBD6"/>
                </a:solidFill>
                <a:latin typeface="Segoe UI"/>
              </a:rPr>
              <a:t>Reduce inequality within and among countries.</a:t>
            </a:r>
            <a:endParaRPr/>
          </a:p>
        </p:txBody>
      </p:sp>
      <p:sp>
        <p:nvSpPr>
          <p:cNvPr id="212" name="Rectangle 28"/>
          <p:cNvSpPr/>
          <p:nvPr/>
        </p:nvSpPr>
        <p:spPr>
          <a:xfrm>
            <a:off x="8010144" y="4315968"/>
            <a:ext cx="3310128" cy="7315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9"/>
          <p:cNvSpPr txBox="1"/>
          <p:nvPr/>
        </p:nvSpPr>
        <p:spPr>
          <a:xfrm>
            <a:off x="8010144" y="442569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 spc="180">
                <a:solidFill>
                  <a:srgbClr val="E3A44B"/>
                </a:solidFill>
                <a:latin typeface="Segoe UI"/>
              </a:rPr>
              <a:t>TARGET 10.2</a:t>
            </a:r>
            <a:endParaRPr/>
          </a:p>
        </p:txBody>
      </p:sp>
      <p:sp>
        <p:nvSpPr>
          <p:cNvPr id="214" name="TextBox 30"/>
          <p:cNvSpPr txBox="1"/>
          <p:nvPr/>
        </p:nvSpPr>
        <p:spPr>
          <a:xfrm>
            <a:off x="8010144" y="4645152"/>
            <a:ext cx="317296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FFFFFF"/>
                </a:solidFill>
                <a:latin typeface="Segoe UI"/>
              </a:rPr>
              <a:t>Empower and promote the social, economic and political inclusion of all, irrespective of age, sex, disability, race, ethnicity, origin, religion or economic or other status.</a:t>
            </a:r>
            <a:endParaRPr/>
          </a:p>
        </p:txBody>
      </p:sp>
      <p:sp>
        <p:nvSpPr>
          <p:cNvPr id="215" name="4-Point Star 31"/>
          <p:cNvSpPr/>
          <p:nvPr/>
        </p:nvSpPr>
        <p:spPr>
          <a:xfrm>
            <a:off x="8014716" y="5692140"/>
            <a:ext cx="100584" cy="100584"/>
          </a:xfrm>
          <a:prstGeom prst="star4">
            <a:avLst>
              <a:gd name="adj" fmla="val 16000"/>
            </a:avLst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32"/>
          <p:cNvSpPr txBox="1"/>
          <p:nvPr/>
        </p:nvSpPr>
        <p:spPr>
          <a:xfrm>
            <a:off x="8247888" y="5650992"/>
            <a:ext cx="305409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B9CBD6"/>
                </a:solidFill>
                <a:latin typeface="Georgia"/>
              </a:rPr>
              <a:t>The same guidance for people who could never pay for a coach.</a:t>
            </a:r>
            <a:endParaRPr/>
          </a:p>
        </p:txBody>
      </p:sp>
      <p:sp>
        <p:nvSpPr>
          <p:cNvPr id="217" name="Rectangle 33"/>
          <p:cNvSpPr/>
          <p:nvPr/>
        </p:nvSpPr>
        <p:spPr>
          <a:xfrm>
            <a:off x="868680" y="6355080"/>
            <a:ext cx="10451592" cy="9144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34"/>
          <p:cNvSpPr txBox="1"/>
          <p:nvPr/>
        </p:nvSpPr>
        <p:spPr>
          <a:xfrm>
            <a:off x="868680" y="64556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 spc="190">
                <a:solidFill>
                  <a:srgbClr val="B9CBD6"/>
                </a:solidFill>
                <a:latin typeface="Segoe UI"/>
              </a:rPr>
              <a:t>PIVOTPATHWAY   ·   SDC HACKATHON</a:t>
            </a:r>
            <a:endParaRPr/>
          </a:p>
        </p:txBody>
      </p:sp>
      <p:sp>
        <p:nvSpPr>
          <p:cNvPr id="219" name="TextBox 35"/>
          <p:cNvSpPr txBox="1"/>
          <p:nvPr/>
        </p:nvSpPr>
        <p:spPr>
          <a:xfrm>
            <a:off x="10561320" y="642823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</a:pPr>
            <a:r>
              <a:rPr sz="950" b="1" i="0" spc="120">
                <a:solidFill>
                  <a:srgbClr val="E3A44B"/>
                </a:solidFill>
                <a:latin typeface="Segoe UI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c="http://schemas.openxmlformats.org/drawingml/2006/chart">
  <p:cSld>
    <p:spTree>
      <p:nvGrpSpPr>
        <p:cNvPr id="2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8F5EF"/>
              </a:gs>
              <a:gs pos="100000">
                <a:srgbClr val="F8F5EF"/>
              </a:gs>
            </a:gsLst>
            <a:lin ang="1890000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Rectangle 2"/>
          <p:cNvSpPr/>
          <p:nvPr/>
        </p:nvSpPr>
        <p:spPr>
          <a:xfrm>
            <a:off x="868680" y="731520"/>
            <a:ext cx="237744" cy="21945"/>
          </a:xfrm>
          <a:prstGeom prst="rect">
            <a:avLst/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3"/>
          <p:cNvSpPr txBox="1"/>
          <p:nvPr/>
        </p:nvSpPr>
        <p:spPr>
          <a:xfrm>
            <a:off x="1225296" y="6537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C9862E"/>
                </a:solidFill>
                <a:latin typeface="Segoe UI"/>
              </a:rPr>
              <a:t>06  —  THE REPORT</a:t>
            </a:r>
            <a:endParaRPr/>
          </a:p>
        </p:txBody>
      </p:sp>
      <p:sp>
        <p:nvSpPr>
          <p:cNvPr id="224" name="TextBox 4"/>
          <p:cNvSpPr txBox="1"/>
          <p:nvPr/>
        </p:nvSpPr>
        <p:spPr>
          <a:xfrm>
            <a:off x="841248" y="932688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3300" b="1" i="0" spc="-30">
                <a:solidFill>
                  <a:srgbClr val="0C2438"/>
                </a:solidFill>
                <a:latin typeface="Segoe UI"/>
              </a:rPr>
              <a:t>What a user actually sees</a:t>
            </a:r>
            <a:endParaRPr/>
          </a:p>
        </p:txBody>
      </p:sp>
      <p:sp>
        <p:nvSpPr>
          <p:cNvPr id="225" name="TextBox 5"/>
          <p:cNvSpPr txBox="1"/>
          <p:nvPr/>
        </p:nvSpPr>
        <p:spPr>
          <a:xfrm>
            <a:off x="868680" y="1673352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B85"/>
                </a:solidFill>
                <a:latin typeface="Segoe UI"/>
              </a:rPr>
              <a:t>Two views do most of the work: how well the role fits, and how AI is likely to change it.</a:t>
            </a:r>
            <a:endParaRPr/>
          </a:p>
        </p:txBody>
      </p:sp>
      <p:sp>
        <p:nvSpPr>
          <p:cNvPr id="226" name="TextBox 6"/>
          <p:cNvSpPr txBox="1"/>
          <p:nvPr/>
        </p:nvSpPr>
        <p:spPr>
          <a:xfrm>
            <a:off x="868680" y="2212848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 spc="180">
                <a:solidFill>
                  <a:srgbClr val="C9862E"/>
                </a:solidFill>
                <a:latin typeface="Segoe UI"/>
              </a:rPr>
              <a:t>CAREER FIT  ·  SIX DIMENSIONS</a:t>
            </a:r>
            <a:endParaRPr/>
          </a:p>
        </p:txBody>
      </p:sp>
      <p:sp>
        <p:nvSpPr>
          <p:cNvPr id="227" name="Freeform 7"/>
          <p:cNvSpPr/>
          <p:nvPr/>
        </p:nvSpPr>
        <p:spPr>
          <a:xfrm>
            <a:off x="2220652" y="3651504"/>
            <a:ext cx="770776" cy="890016"/>
          </a:xfrm>
          <a:custGeom>
            <a:avLst/>
            <a:gdLst/>
            <a:ahLst/>
            <a:cxnLst/>
            <a:rect l="l" t="t" r="r" b="b"/>
            <a:pathLst>
              <a:path w="770776" h="890016">
                <a:moveTo>
                  <a:pt x="385388" y="0"/>
                </a:moveTo>
                <a:lnTo>
                  <a:pt x="770776" y="222504"/>
                </a:lnTo>
                <a:lnTo>
                  <a:pt x="770776" y="667512"/>
                </a:lnTo>
                <a:lnTo>
                  <a:pt x="385388" y="890016"/>
                </a:lnTo>
                <a:lnTo>
                  <a:pt x="0" y="667512"/>
                </a:lnTo>
                <a:lnTo>
                  <a:pt x="0" y="222504"/>
                </a:lnTo>
                <a:close/>
              </a:path>
            </a:pathLst>
          </a:custGeom>
          <a:noFill/>
          <a:ln w="7620">
            <a:solidFill>
              <a:srgbClr val="DCD6C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Freeform 8"/>
          <p:cNvSpPr/>
          <p:nvPr/>
        </p:nvSpPr>
        <p:spPr>
          <a:xfrm>
            <a:off x="1835264" y="3206496"/>
            <a:ext cx="1541552" cy="1780032"/>
          </a:xfrm>
          <a:custGeom>
            <a:avLst/>
            <a:gdLst/>
            <a:ahLst/>
            <a:cxnLst/>
            <a:rect l="l" t="t" r="r" b="b"/>
            <a:pathLst>
              <a:path w="1541552" h="1780032">
                <a:moveTo>
                  <a:pt x="770776" y="0"/>
                </a:moveTo>
                <a:lnTo>
                  <a:pt x="1541552" y="445008"/>
                </a:lnTo>
                <a:lnTo>
                  <a:pt x="1541552" y="1335024"/>
                </a:lnTo>
                <a:lnTo>
                  <a:pt x="770776" y="1780032"/>
                </a:lnTo>
                <a:lnTo>
                  <a:pt x="0" y="1335024"/>
                </a:lnTo>
                <a:lnTo>
                  <a:pt x="0" y="445008"/>
                </a:lnTo>
                <a:close/>
              </a:path>
            </a:pathLst>
          </a:custGeom>
          <a:noFill/>
          <a:ln w="7620">
            <a:solidFill>
              <a:srgbClr val="DCD6C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Freeform 9"/>
          <p:cNvSpPr/>
          <p:nvPr/>
        </p:nvSpPr>
        <p:spPr>
          <a:xfrm>
            <a:off x="1449875" y="2761488"/>
            <a:ext cx="2312330" cy="2670048"/>
          </a:xfrm>
          <a:custGeom>
            <a:avLst/>
            <a:gdLst/>
            <a:ahLst/>
            <a:cxnLst/>
            <a:rect l="l" t="t" r="r" b="b"/>
            <a:pathLst>
              <a:path w="2312330" h="2670048">
                <a:moveTo>
                  <a:pt x="1156165" y="0"/>
                </a:moveTo>
                <a:lnTo>
                  <a:pt x="2312330" y="667512"/>
                </a:lnTo>
                <a:lnTo>
                  <a:pt x="2312330" y="2002536"/>
                </a:lnTo>
                <a:lnTo>
                  <a:pt x="1156165" y="2670048"/>
                </a:lnTo>
                <a:lnTo>
                  <a:pt x="0" y="2002536"/>
                </a:lnTo>
                <a:lnTo>
                  <a:pt x="0" y="667512"/>
                </a:lnTo>
                <a:close/>
              </a:path>
            </a:pathLst>
          </a:custGeom>
          <a:noFill/>
          <a:ln w="7620">
            <a:solidFill>
              <a:srgbClr val="DCD6C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0" name="Connector 10"/>
          <p:cNvCxnSpPr/>
          <p:nvPr/>
        </p:nvCxnSpPr>
        <p:spPr>
          <a:xfrm flipV="1">
            <a:off x="2606040" y="2761488"/>
            <a:ext cx="0" cy="1335024"/>
          </a:xfrm>
          <a:prstGeom prst="line">
            <a:avLst/>
          </a:prstGeom>
          <a:ln w="7620">
            <a:solidFill>
              <a:srgbClr val="DCD6C8"/>
            </a:solidFill>
          </a:ln>
          <a:effectLst/>
        </p:spPr>
      </p:cxnSp>
      <p:cxnSp>
        <p:nvCxnSpPr>
          <p:cNvPr id="231" name="Connector 11"/>
          <p:cNvCxnSpPr/>
          <p:nvPr/>
        </p:nvCxnSpPr>
        <p:spPr>
          <a:xfrm flipV="1">
            <a:off x="2606040" y="3429000"/>
            <a:ext cx="1156164" cy="667512"/>
          </a:xfrm>
          <a:prstGeom prst="line">
            <a:avLst/>
          </a:prstGeom>
          <a:ln w="7620">
            <a:solidFill>
              <a:srgbClr val="DCD6C8"/>
            </a:solidFill>
          </a:ln>
          <a:effectLst/>
        </p:spPr>
      </p:cxnSp>
      <p:cxnSp>
        <p:nvCxnSpPr>
          <p:cNvPr id="232" name="Connector 12"/>
          <p:cNvCxnSpPr/>
          <p:nvPr/>
        </p:nvCxnSpPr>
        <p:spPr>
          <a:xfrm>
            <a:off x="2606040" y="4096512"/>
            <a:ext cx="1156164" cy="667512"/>
          </a:xfrm>
          <a:prstGeom prst="line">
            <a:avLst/>
          </a:prstGeom>
          <a:ln w="7620">
            <a:solidFill>
              <a:srgbClr val="DCD6C8"/>
            </a:solidFill>
          </a:ln>
          <a:effectLst/>
        </p:spPr>
      </p:cxnSp>
      <p:cxnSp>
        <p:nvCxnSpPr>
          <p:cNvPr id="233" name="Connector 13"/>
          <p:cNvCxnSpPr/>
          <p:nvPr/>
        </p:nvCxnSpPr>
        <p:spPr>
          <a:xfrm>
            <a:off x="2606040" y="4096512"/>
            <a:ext cx="0" cy="1335024"/>
          </a:xfrm>
          <a:prstGeom prst="line">
            <a:avLst/>
          </a:prstGeom>
          <a:ln w="7620">
            <a:solidFill>
              <a:srgbClr val="DCD6C8"/>
            </a:solidFill>
          </a:ln>
          <a:effectLst/>
        </p:spPr>
      </p:cxnSp>
      <p:cxnSp>
        <p:nvCxnSpPr>
          <p:cNvPr id="234" name="Connector 14"/>
          <p:cNvCxnSpPr/>
          <p:nvPr/>
        </p:nvCxnSpPr>
        <p:spPr>
          <a:xfrm flipH="1">
            <a:off x="1449875" y="4096512"/>
            <a:ext cx="1156165" cy="667512"/>
          </a:xfrm>
          <a:prstGeom prst="line">
            <a:avLst/>
          </a:prstGeom>
          <a:ln w="7620">
            <a:solidFill>
              <a:srgbClr val="DCD6C8"/>
            </a:solidFill>
          </a:ln>
          <a:effectLst/>
        </p:spPr>
      </p:cxnSp>
      <p:cxnSp>
        <p:nvCxnSpPr>
          <p:cNvPr id="235" name="Connector 15"/>
          <p:cNvCxnSpPr/>
          <p:nvPr/>
        </p:nvCxnSpPr>
        <p:spPr>
          <a:xfrm flipH="1" flipV="1">
            <a:off x="1449875" y="3429000"/>
            <a:ext cx="1156165" cy="667512"/>
          </a:xfrm>
          <a:prstGeom prst="line">
            <a:avLst/>
          </a:prstGeom>
          <a:ln w="7620">
            <a:solidFill>
              <a:srgbClr val="DCD6C8"/>
            </a:solidFill>
          </a:ln>
          <a:effectLst/>
        </p:spPr>
      </p:cxnSp>
      <p:sp>
        <p:nvSpPr>
          <p:cNvPr id="236" name="Freeform 16"/>
          <p:cNvSpPr/>
          <p:nvPr/>
        </p:nvSpPr>
        <p:spPr>
          <a:xfrm>
            <a:off x="1611738" y="2975092"/>
            <a:ext cx="2046412" cy="2082637"/>
          </a:xfrm>
          <a:custGeom>
            <a:avLst/>
            <a:gdLst/>
            <a:ahLst/>
            <a:cxnLst/>
            <a:rect l="l" t="t" r="r" b="b"/>
            <a:pathLst>
              <a:path w="2046412" h="2082637">
                <a:moveTo>
                  <a:pt x="994302" y="0"/>
                </a:moveTo>
                <a:lnTo>
                  <a:pt x="1792056" y="660837"/>
                </a:lnTo>
                <a:lnTo>
                  <a:pt x="2046412" y="1728856"/>
                </a:lnTo>
                <a:lnTo>
                  <a:pt x="994302" y="2082637"/>
                </a:lnTo>
                <a:lnTo>
                  <a:pt x="323726" y="1508577"/>
                </a:lnTo>
                <a:lnTo>
                  <a:pt x="0" y="547360"/>
                </a:lnTo>
                <a:close/>
              </a:path>
            </a:pathLst>
          </a:custGeom>
          <a:solidFill>
            <a:srgbClr val="E3A44B">
              <a:alpha val="18000"/>
            </a:srgbClr>
          </a:solidFill>
          <a:ln w="25400">
            <a:solidFill>
              <a:srgbClr val="C986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Oval 17"/>
          <p:cNvSpPr/>
          <p:nvPr/>
        </p:nvSpPr>
        <p:spPr>
          <a:xfrm>
            <a:off x="2555748" y="2924799"/>
            <a:ext cx="100584" cy="100584"/>
          </a:xfrm>
          <a:prstGeom prst="ellipse">
            <a:avLst/>
          </a:prstGeom>
          <a:solidFill>
            <a:srgbClr val="C986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Oval 18"/>
          <p:cNvSpPr/>
          <p:nvPr/>
        </p:nvSpPr>
        <p:spPr>
          <a:xfrm>
            <a:off x="3353501" y="3585636"/>
            <a:ext cx="100584" cy="100584"/>
          </a:xfrm>
          <a:prstGeom prst="ellipse">
            <a:avLst/>
          </a:prstGeom>
          <a:solidFill>
            <a:srgbClr val="C986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Oval 19"/>
          <p:cNvSpPr/>
          <p:nvPr/>
        </p:nvSpPr>
        <p:spPr>
          <a:xfrm>
            <a:off x="3607857" y="4653655"/>
            <a:ext cx="100584" cy="100584"/>
          </a:xfrm>
          <a:prstGeom prst="ellipse">
            <a:avLst/>
          </a:prstGeom>
          <a:solidFill>
            <a:srgbClr val="C986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Oval 20"/>
          <p:cNvSpPr/>
          <p:nvPr/>
        </p:nvSpPr>
        <p:spPr>
          <a:xfrm>
            <a:off x="2555748" y="5007437"/>
            <a:ext cx="100584" cy="100584"/>
          </a:xfrm>
          <a:prstGeom prst="ellipse">
            <a:avLst/>
          </a:prstGeom>
          <a:solidFill>
            <a:srgbClr val="C986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Oval 21"/>
          <p:cNvSpPr/>
          <p:nvPr/>
        </p:nvSpPr>
        <p:spPr>
          <a:xfrm>
            <a:off x="1885172" y="4433376"/>
            <a:ext cx="100584" cy="100584"/>
          </a:xfrm>
          <a:prstGeom prst="ellipse">
            <a:avLst/>
          </a:prstGeom>
          <a:solidFill>
            <a:srgbClr val="C986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2"/>
          <p:cNvSpPr/>
          <p:nvPr/>
        </p:nvSpPr>
        <p:spPr>
          <a:xfrm>
            <a:off x="1561446" y="3472159"/>
            <a:ext cx="100584" cy="100584"/>
          </a:xfrm>
          <a:prstGeom prst="ellipse">
            <a:avLst/>
          </a:prstGeom>
          <a:solidFill>
            <a:srgbClr val="C986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3"/>
          <p:cNvSpPr txBox="1"/>
          <p:nvPr/>
        </p:nvSpPr>
        <p:spPr>
          <a:xfrm>
            <a:off x="4224528" y="331012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1" i="0" spc="180">
                <a:solidFill>
                  <a:srgbClr val="6B7B85"/>
                </a:solidFill>
                <a:latin typeface="Segoe UI"/>
              </a:rPr>
              <a:t>FIT SCORE</a:t>
            </a:r>
            <a:endParaRPr/>
          </a:p>
        </p:txBody>
      </p:sp>
      <p:sp>
        <p:nvSpPr>
          <p:cNvPr id="244" name="TextBox 24"/>
          <p:cNvSpPr txBox="1"/>
          <p:nvPr/>
        </p:nvSpPr>
        <p:spPr>
          <a:xfrm>
            <a:off x="4187952" y="3511296"/>
            <a:ext cx="146304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0C2438"/>
                </a:solidFill>
                <a:latin typeface="Segoe UI"/>
              </a:rPr>
              <a:t>8.4</a:t>
            </a:r>
            <a:endParaRPr/>
          </a:p>
        </p:txBody>
      </p:sp>
      <p:sp>
        <p:nvSpPr>
          <p:cNvPr id="245" name="TextBox 25"/>
          <p:cNvSpPr txBox="1"/>
          <p:nvPr/>
        </p:nvSpPr>
        <p:spPr>
          <a:xfrm>
            <a:off x="4224528" y="4297680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B85"/>
                </a:solidFill>
                <a:latin typeface="Segoe UI"/>
              </a:rPr>
              <a:t>out of 10</a:t>
            </a:r>
            <a:endParaRPr/>
          </a:p>
        </p:txBody>
      </p:sp>
      <p:sp>
        <p:nvSpPr>
          <p:cNvPr id="246" name="Rectangle 26"/>
          <p:cNvSpPr/>
          <p:nvPr/>
        </p:nvSpPr>
        <p:spPr>
          <a:xfrm>
            <a:off x="4224528" y="4663440"/>
            <a:ext cx="566928" cy="12801"/>
          </a:xfrm>
          <a:prstGeom prst="rect">
            <a:avLst/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7"/>
          <p:cNvSpPr txBox="1"/>
          <p:nvPr/>
        </p:nvSpPr>
        <p:spPr>
          <a:xfrm>
            <a:off x="4224528" y="4791456"/>
            <a:ext cx="15544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252E"/>
                </a:solidFill>
                <a:latin typeface="Segoe UI"/>
              </a:rPr>
              <a:t>Strong fit overall.</a:t>
            </a:r>
            <a:endParaRPr/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252E"/>
                </a:solidFill>
                <a:latin typeface="Segoe UI"/>
              </a:rPr>
              <a:t>One dimension lags — that is</a:t>
            </a:r>
            <a:endParaRPr/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6252E"/>
                </a:solidFill>
                <a:latin typeface="Segoe UI"/>
              </a:rPr>
              <a:t>where the plan starts.</a:t>
            </a:r>
            <a:endParaRPr/>
          </a:p>
        </p:txBody>
      </p:sp>
      <p:sp>
        <p:nvSpPr>
          <p:cNvPr id="248" name="TextBox 28"/>
          <p:cNvSpPr txBox="1"/>
          <p:nvPr/>
        </p:nvSpPr>
        <p:spPr>
          <a:xfrm>
            <a:off x="6492240" y="2212848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 spc="180">
                <a:solidFill>
                  <a:srgbClr val="C9862E"/>
                </a:solidFill>
                <a:latin typeface="Segoe UI"/>
              </a:rPr>
              <a:t>AI IMPACT  ·  PROJECTION TO 2031</a:t>
            </a:r>
            <a:endParaRPr/>
          </a:p>
        </p:txBody>
      </p:sp>
      <p:sp>
        <p:nvSpPr>
          <p:cNvPr id="249" name="Rectangle 29"/>
          <p:cNvSpPr/>
          <p:nvPr/>
        </p:nvSpPr>
        <p:spPr>
          <a:xfrm>
            <a:off x="6492240" y="2432304"/>
            <a:ext cx="274320" cy="23774"/>
          </a:xfrm>
          <a:prstGeom prst="rect">
            <a:avLst/>
          </a:prstGeom>
          <a:solidFill>
            <a:srgbClr val="0C24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TextBox 30"/>
          <p:cNvSpPr txBox="1"/>
          <p:nvPr/>
        </p:nvSpPr>
        <p:spPr>
          <a:xfrm>
            <a:off x="6858000" y="235915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B85"/>
                </a:solidFill>
                <a:latin typeface="Segoe UI"/>
              </a:rPr>
              <a:t>Low exposure</a:t>
            </a:r>
            <a:endParaRPr/>
          </a:p>
        </p:txBody>
      </p:sp>
      <p:sp>
        <p:nvSpPr>
          <p:cNvPr id="251" name="Rectangle 31"/>
          <p:cNvSpPr/>
          <p:nvPr/>
        </p:nvSpPr>
        <p:spPr>
          <a:xfrm>
            <a:off x="8119871" y="2432304"/>
            <a:ext cx="274320" cy="23774"/>
          </a:xfrm>
          <a:prstGeom prst="rect">
            <a:avLst/>
          </a:prstGeom>
          <a:solidFill>
            <a:srgbClr val="C986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TextBox 32"/>
          <p:cNvSpPr txBox="1"/>
          <p:nvPr/>
        </p:nvSpPr>
        <p:spPr>
          <a:xfrm>
            <a:off x="8485632" y="235915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B85"/>
                </a:solidFill>
                <a:latin typeface="Segoe UI"/>
              </a:rPr>
              <a:t>Medium exposure</a:t>
            </a:r>
            <a:endParaRPr/>
          </a:p>
        </p:txBody>
      </p:sp>
      <p:sp>
        <p:nvSpPr>
          <p:cNvPr id="253" name="Rectangle 33"/>
          <p:cNvSpPr/>
          <p:nvPr/>
        </p:nvSpPr>
        <p:spPr>
          <a:xfrm>
            <a:off x="9747503" y="2432304"/>
            <a:ext cx="274320" cy="23774"/>
          </a:xfrm>
          <a:prstGeom prst="rect">
            <a:avLst/>
          </a:prstGeom>
          <a:solidFill>
            <a:srgbClr val="B43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TextBox 34"/>
          <p:cNvSpPr txBox="1"/>
          <p:nvPr/>
        </p:nvSpPr>
        <p:spPr>
          <a:xfrm>
            <a:off x="10113263" y="235915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B85"/>
                </a:solidFill>
                <a:latin typeface="Segoe UI"/>
              </a:rPr>
              <a:t>High exposure</a:t>
            </a:r>
            <a:endParaRPr/>
          </a:p>
        </p:txBody>
      </p:sp>
      <p:graphicFrame>
        <p:nvGraphicFramePr>
          <p:cNvPr id="255" name="Chart 35"/>
          <p:cNvGraphicFramePr/>
          <p:nvPr/>
        </p:nvGraphicFramePr>
        <p:xfrm>
          <a:off x="6492240" y="2651760"/>
          <a:ext cx="4828032" cy="224028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256" name="TextBox 36"/>
          <p:cNvSpPr txBox="1"/>
          <p:nvPr/>
        </p:nvSpPr>
        <p:spPr>
          <a:xfrm>
            <a:off x="6492240" y="4992624"/>
            <a:ext cx="482803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7B85"/>
                </a:solidFill>
                <a:latin typeface="Segoe UI"/>
              </a:rPr>
              <a:t>Share of tasks in the role judged exposed to AI, under three adaptation scenarios — an index, not a probability.</a:t>
            </a:r>
            <a:endParaRPr/>
          </a:p>
        </p:txBody>
      </p:sp>
      <p:sp>
        <p:nvSpPr>
          <p:cNvPr id="257" name="Rectangle 37"/>
          <p:cNvSpPr/>
          <p:nvPr/>
        </p:nvSpPr>
        <p:spPr>
          <a:xfrm>
            <a:off x="868680" y="5760720"/>
            <a:ext cx="10451592" cy="9144"/>
          </a:xfrm>
          <a:prstGeom prst="rect">
            <a:avLst/>
          </a:prstGeom>
          <a:solidFill>
            <a:srgbClr val="0C2438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TextBox 38"/>
          <p:cNvSpPr txBox="1"/>
          <p:nvPr/>
        </p:nvSpPr>
        <p:spPr>
          <a:xfrm>
            <a:off x="868680" y="5888736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800" b="1" i="0" spc="180">
                <a:solidFill>
                  <a:srgbClr val="C9862E"/>
                </a:solidFill>
                <a:latin typeface="Segoe UI"/>
              </a:rPr>
              <a:t>FOR REFERENCE ONLY</a:t>
            </a:r>
            <a:endParaRPr/>
          </a:p>
        </p:txBody>
      </p:sp>
      <p:sp>
        <p:nvSpPr>
          <p:cNvPr id="259" name="TextBox 39"/>
          <p:cNvSpPr txBox="1"/>
          <p:nvPr/>
        </p:nvSpPr>
        <p:spPr>
          <a:xfrm>
            <a:off x="868680" y="6108192"/>
            <a:ext cx="1045159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7B85"/>
                </a:solidFill>
                <a:latin typeface="Segoe UI"/>
              </a:rPr>
              <a:t>Scores and projections are illustrative, generated from a sample profile and a six-year model. They are indicative and should not be read as a forecast of any individual's outcome.</a:t>
            </a:r>
            <a:endParaRPr/>
          </a:p>
        </p:txBody>
      </p:sp>
      <p:sp>
        <p:nvSpPr>
          <p:cNvPr id="260" name="Rectangle 40"/>
          <p:cNvSpPr/>
          <p:nvPr/>
        </p:nvSpPr>
        <p:spPr>
          <a:xfrm>
            <a:off x="868680" y="6355080"/>
            <a:ext cx="10451592" cy="9144"/>
          </a:xfrm>
          <a:prstGeom prst="rect">
            <a:avLst/>
          </a:prstGeom>
          <a:solidFill>
            <a:srgbClr val="0C2438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41"/>
          <p:cNvSpPr txBox="1"/>
          <p:nvPr/>
        </p:nvSpPr>
        <p:spPr>
          <a:xfrm>
            <a:off x="868680" y="64556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 spc="190">
                <a:solidFill>
                  <a:srgbClr val="6B7B85"/>
                </a:solidFill>
                <a:latin typeface="Segoe UI"/>
              </a:rPr>
              <a:t>PIVOTPATHWAY   ·   SDC HACKATHON</a:t>
            </a:r>
            <a:endParaRPr/>
          </a:p>
        </p:txBody>
      </p:sp>
      <p:sp>
        <p:nvSpPr>
          <p:cNvPr id="262" name="TextBox 42"/>
          <p:cNvSpPr txBox="1"/>
          <p:nvPr/>
        </p:nvSpPr>
        <p:spPr>
          <a:xfrm>
            <a:off x="10561320" y="642823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</a:pPr>
            <a:r>
              <a:rPr sz="950" b="1" i="0" spc="120">
                <a:solidFill>
                  <a:srgbClr val="C9862E"/>
                </a:solidFill>
                <a:latin typeface="Segoe UI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2438"/>
              </a:gs>
              <a:gs pos="100000">
                <a:srgbClr val="061420"/>
              </a:gs>
            </a:gsLst>
            <a:lin ang="1890000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Rectangle 2"/>
          <p:cNvSpPr/>
          <p:nvPr/>
        </p:nvSpPr>
        <p:spPr>
          <a:xfrm>
            <a:off x="868680" y="731520"/>
            <a:ext cx="237744" cy="21945"/>
          </a:xfrm>
          <a:prstGeom prst="rect">
            <a:avLst/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3"/>
          <p:cNvSpPr txBox="1"/>
          <p:nvPr/>
        </p:nvSpPr>
        <p:spPr>
          <a:xfrm>
            <a:off x="1225296" y="6537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E3A44B"/>
                </a:solidFill>
                <a:latin typeface="Segoe UI"/>
              </a:rPr>
              <a:t>07  —  ACKNOWLEDGEMENTS</a:t>
            </a:r>
            <a:endParaRPr/>
          </a:p>
        </p:txBody>
      </p:sp>
      <p:sp>
        <p:nvSpPr>
          <p:cNvPr id="267" name="TextBox 4"/>
          <p:cNvSpPr txBox="1"/>
          <p:nvPr/>
        </p:nvSpPr>
        <p:spPr>
          <a:xfrm>
            <a:off x="841248" y="932688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3300" b="1" i="0" spc="-30">
                <a:solidFill>
                  <a:srgbClr val="FFFFFF"/>
                </a:solidFill>
                <a:latin typeface="Segoe UI"/>
              </a:rPr>
              <a:t>Acknowledgements</a:t>
            </a:r>
            <a:endParaRPr/>
          </a:p>
        </p:txBody>
      </p:sp>
      <p:sp>
        <p:nvSpPr>
          <p:cNvPr id="268" name="TextBox 5"/>
          <p:cNvSpPr txBox="1"/>
          <p:nvPr/>
        </p:nvSpPr>
        <p:spPr>
          <a:xfrm>
            <a:off x="868680" y="1673352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B9CBD6"/>
                </a:solidFill>
                <a:latin typeface="Segoe UI"/>
              </a:rPr>
              <a:t>Built on open tools and open data — and with partners we did not build ourselves.</a:t>
            </a:r>
            <a:endParaRPr/>
          </a:p>
        </p:txBody>
      </p:sp>
      <p:sp>
        <p:nvSpPr>
          <p:cNvPr id="269" name="TextBox 6"/>
          <p:cNvSpPr txBox="1"/>
          <p:nvPr/>
        </p:nvSpPr>
        <p:spPr>
          <a:xfrm>
            <a:off x="868680" y="202996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1" i="0" spc="200">
                <a:solidFill>
                  <a:srgbClr val="E3A44B"/>
                </a:solidFill>
                <a:latin typeface="Segoe UI"/>
              </a:rPr>
              <a:t>TECHNICAL DECLARATION</a:t>
            </a:r>
            <a:endParaRPr/>
          </a:p>
        </p:txBody>
      </p:sp>
      <p:sp>
        <p:nvSpPr>
          <p:cNvPr id="270" name="TextBox 7"/>
          <p:cNvSpPr txBox="1"/>
          <p:nvPr/>
        </p:nvSpPr>
        <p:spPr>
          <a:xfrm>
            <a:off x="868680" y="224942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650" b="1" i="0" spc="160">
                <a:solidFill>
                  <a:srgbClr val="B9CBD6"/>
                </a:solidFill>
                <a:latin typeface="Segoe UI"/>
              </a:rPr>
              <a:t>TOOL</a:t>
            </a:r>
            <a:endParaRPr/>
          </a:p>
        </p:txBody>
      </p:sp>
      <p:sp>
        <p:nvSpPr>
          <p:cNvPr id="271" name="TextBox 8"/>
          <p:cNvSpPr txBox="1"/>
          <p:nvPr/>
        </p:nvSpPr>
        <p:spPr>
          <a:xfrm>
            <a:off x="2633472" y="2249424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650" b="1" i="0" spc="160">
                <a:solidFill>
                  <a:srgbClr val="B9CBD6"/>
                </a:solidFill>
                <a:latin typeface="Segoe UI"/>
              </a:rPr>
              <a:t>VERSION</a:t>
            </a:r>
            <a:endParaRPr/>
          </a:p>
        </p:txBody>
      </p:sp>
      <p:sp>
        <p:nvSpPr>
          <p:cNvPr id="272" name="TextBox 9"/>
          <p:cNvSpPr txBox="1"/>
          <p:nvPr/>
        </p:nvSpPr>
        <p:spPr>
          <a:xfrm>
            <a:off x="3456432" y="2249424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650" b="1" i="0" spc="160">
                <a:solidFill>
                  <a:srgbClr val="B9CBD6"/>
                </a:solidFill>
                <a:latin typeface="Segoe UI"/>
              </a:rPr>
              <a:t>ROLE IN THIS BUILD</a:t>
            </a:r>
            <a:endParaRPr/>
          </a:p>
        </p:txBody>
      </p:sp>
      <p:sp>
        <p:nvSpPr>
          <p:cNvPr id="273" name="Rectangle 10"/>
          <p:cNvSpPr/>
          <p:nvPr/>
        </p:nvSpPr>
        <p:spPr>
          <a:xfrm>
            <a:off x="868680" y="2432304"/>
            <a:ext cx="5074920" cy="7315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TextBox 11"/>
          <p:cNvSpPr txBox="1"/>
          <p:nvPr/>
        </p:nvSpPr>
        <p:spPr>
          <a:xfrm>
            <a:off x="6245352" y="224942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650" b="1" i="0" spc="160">
                <a:solidFill>
                  <a:srgbClr val="B9CBD6"/>
                </a:solidFill>
                <a:latin typeface="Segoe UI"/>
              </a:rPr>
              <a:t>TOOL</a:t>
            </a:r>
            <a:endParaRPr/>
          </a:p>
        </p:txBody>
      </p:sp>
      <p:sp>
        <p:nvSpPr>
          <p:cNvPr id="275" name="TextBox 12"/>
          <p:cNvSpPr txBox="1"/>
          <p:nvPr/>
        </p:nvSpPr>
        <p:spPr>
          <a:xfrm>
            <a:off x="8010144" y="2249424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650" b="1" i="0" spc="160">
                <a:solidFill>
                  <a:srgbClr val="B9CBD6"/>
                </a:solidFill>
                <a:latin typeface="Segoe UI"/>
              </a:rPr>
              <a:t>VERSION</a:t>
            </a:r>
            <a:endParaRPr/>
          </a:p>
        </p:txBody>
      </p:sp>
      <p:sp>
        <p:nvSpPr>
          <p:cNvPr id="276" name="TextBox 13"/>
          <p:cNvSpPr txBox="1"/>
          <p:nvPr/>
        </p:nvSpPr>
        <p:spPr>
          <a:xfrm>
            <a:off x="8833104" y="2249424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650" b="1" i="0" spc="160">
                <a:solidFill>
                  <a:srgbClr val="B9CBD6"/>
                </a:solidFill>
                <a:latin typeface="Segoe UI"/>
              </a:rPr>
              <a:t>ROLE IN THIS BUILD</a:t>
            </a:r>
            <a:endParaRPr/>
          </a:p>
        </p:txBody>
      </p:sp>
      <p:sp>
        <p:nvSpPr>
          <p:cNvPr id="277" name="Rectangle 14"/>
          <p:cNvSpPr/>
          <p:nvPr/>
        </p:nvSpPr>
        <p:spPr>
          <a:xfrm>
            <a:off x="6245352" y="2432304"/>
            <a:ext cx="5074920" cy="7315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TextBox 15"/>
          <p:cNvSpPr txBox="1"/>
          <p:nvPr/>
        </p:nvSpPr>
        <p:spPr>
          <a:xfrm>
            <a:off x="868680" y="2523744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"/>
              </a:rPr>
              <a:t>React</a:t>
            </a:r>
            <a:endParaRPr/>
          </a:p>
        </p:txBody>
      </p:sp>
      <p:sp>
        <p:nvSpPr>
          <p:cNvPr id="279" name="TextBox 16"/>
          <p:cNvSpPr txBox="1"/>
          <p:nvPr/>
        </p:nvSpPr>
        <p:spPr>
          <a:xfrm>
            <a:off x="2633472" y="2523744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E3A44B"/>
                </a:solidFill>
                <a:latin typeface="Segoe UI"/>
              </a:rPr>
              <a:t>19.1.0</a:t>
            </a:r>
            <a:endParaRPr/>
          </a:p>
        </p:txBody>
      </p:sp>
      <p:sp>
        <p:nvSpPr>
          <p:cNvPr id="280" name="TextBox 17"/>
          <p:cNvSpPr txBox="1"/>
          <p:nvPr/>
        </p:nvSpPr>
        <p:spPr>
          <a:xfrm>
            <a:off x="3456432" y="2523744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9CBD6"/>
                </a:solidFill>
                <a:latin typeface="Segoe UI"/>
              </a:rPr>
              <a:t>Page UI</a:t>
            </a:r>
            <a:endParaRPr/>
          </a:p>
        </p:txBody>
      </p:sp>
      <p:sp>
        <p:nvSpPr>
          <p:cNvPr id="281" name="TextBox 18"/>
          <p:cNvSpPr txBox="1"/>
          <p:nvPr/>
        </p:nvSpPr>
        <p:spPr>
          <a:xfrm>
            <a:off x="868680" y="2763316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"/>
              </a:rPr>
              <a:t>Wouter</a:t>
            </a:r>
            <a:endParaRPr/>
          </a:p>
        </p:txBody>
      </p:sp>
      <p:sp>
        <p:nvSpPr>
          <p:cNvPr id="282" name="TextBox 19"/>
          <p:cNvSpPr txBox="1"/>
          <p:nvPr/>
        </p:nvSpPr>
        <p:spPr>
          <a:xfrm>
            <a:off x="2633472" y="2763316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E3A44B"/>
                </a:solidFill>
                <a:latin typeface="Segoe UI"/>
              </a:rPr>
              <a:t>^3.3.5</a:t>
            </a:r>
            <a:endParaRPr/>
          </a:p>
        </p:txBody>
      </p:sp>
      <p:sp>
        <p:nvSpPr>
          <p:cNvPr id="283" name="TextBox 20"/>
          <p:cNvSpPr txBox="1"/>
          <p:nvPr/>
        </p:nvSpPr>
        <p:spPr>
          <a:xfrm>
            <a:off x="3456432" y="2763316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9CBD6"/>
                </a:solidFill>
                <a:latin typeface="Segoe UI"/>
              </a:rPr>
              <a:t>8 page routes</a:t>
            </a:r>
            <a:endParaRPr/>
          </a:p>
        </p:txBody>
      </p:sp>
      <p:sp>
        <p:nvSpPr>
          <p:cNvPr id="284" name="TextBox 21"/>
          <p:cNvSpPr txBox="1"/>
          <p:nvPr/>
        </p:nvSpPr>
        <p:spPr>
          <a:xfrm>
            <a:off x="868680" y="3002889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"/>
              </a:rPr>
              <a:t>Tailwind CSS</a:t>
            </a:r>
            <a:endParaRPr/>
          </a:p>
        </p:txBody>
      </p:sp>
      <p:sp>
        <p:nvSpPr>
          <p:cNvPr id="285" name="TextBox 22"/>
          <p:cNvSpPr txBox="1"/>
          <p:nvPr/>
        </p:nvSpPr>
        <p:spPr>
          <a:xfrm>
            <a:off x="2633472" y="3002889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E3A44B"/>
                </a:solidFill>
                <a:latin typeface="Segoe UI"/>
              </a:rPr>
              <a:t>^4.3.3</a:t>
            </a:r>
            <a:endParaRPr/>
          </a:p>
        </p:txBody>
      </p:sp>
      <p:sp>
        <p:nvSpPr>
          <p:cNvPr id="286" name="TextBox 23"/>
          <p:cNvSpPr txBox="1"/>
          <p:nvPr/>
        </p:nvSpPr>
        <p:spPr>
          <a:xfrm>
            <a:off x="3456432" y="3002889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9CBD6"/>
                </a:solidFill>
                <a:latin typeface="Segoe UI"/>
              </a:rPr>
              <a:t>Styling system</a:t>
            </a:r>
            <a:endParaRPr/>
          </a:p>
        </p:txBody>
      </p:sp>
      <p:sp>
        <p:nvSpPr>
          <p:cNvPr id="287" name="TextBox 24"/>
          <p:cNvSpPr txBox="1"/>
          <p:nvPr/>
        </p:nvSpPr>
        <p:spPr>
          <a:xfrm>
            <a:off x="868680" y="3242462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"/>
              </a:rPr>
              <a:t>TanStack Query</a:t>
            </a:r>
            <a:endParaRPr/>
          </a:p>
        </p:txBody>
      </p:sp>
      <p:sp>
        <p:nvSpPr>
          <p:cNvPr id="288" name="TextBox 25"/>
          <p:cNvSpPr txBox="1"/>
          <p:nvPr/>
        </p:nvSpPr>
        <p:spPr>
          <a:xfrm>
            <a:off x="2633472" y="3242462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E3A44B"/>
                </a:solidFill>
                <a:latin typeface="Segoe UI"/>
              </a:rPr>
              <a:t>^5.90.21</a:t>
            </a:r>
            <a:endParaRPr/>
          </a:p>
        </p:txBody>
      </p:sp>
      <p:sp>
        <p:nvSpPr>
          <p:cNvPr id="289" name="TextBox 26"/>
          <p:cNvSpPr txBox="1"/>
          <p:nvPr/>
        </p:nvSpPr>
        <p:spPr>
          <a:xfrm>
            <a:off x="3456432" y="3242462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9CBD6"/>
                </a:solidFill>
                <a:latin typeface="Segoe UI"/>
              </a:rPr>
              <a:t>Request state</a:t>
            </a:r>
            <a:endParaRPr/>
          </a:p>
        </p:txBody>
      </p:sp>
      <p:sp>
        <p:nvSpPr>
          <p:cNvPr id="290" name="TextBox 27"/>
          <p:cNvSpPr txBox="1"/>
          <p:nvPr/>
        </p:nvSpPr>
        <p:spPr>
          <a:xfrm>
            <a:off x="868680" y="3482035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"/>
              </a:rPr>
              <a:t>Recharts</a:t>
            </a:r>
            <a:endParaRPr/>
          </a:p>
        </p:txBody>
      </p:sp>
      <p:sp>
        <p:nvSpPr>
          <p:cNvPr id="291" name="TextBox 28"/>
          <p:cNvSpPr txBox="1"/>
          <p:nvPr/>
        </p:nvSpPr>
        <p:spPr>
          <a:xfrm>
            <a:off x="2633472" y="3482035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E3A44B"/>
                </a:solidFill>
                <a:latin typeface="Segoe UI"/>
              </a:rPr>
              <a:t>^2.15.2</a:t>
            </a:r>
            <a:endParaRPr/>
          </a:p>
        </p:txBody>
      </p:sp>
      <p:sp>
        <p:nvSpPr>
          <p:cNvPr id="292" name="TextBox 29"/>
          <p:cNvSpPr txBox="1"/>
          <p:nvPr/>
        </p:nvSpPr>
        <p:spPr>
          <a:xfrm>
            <a:off x="3456432" y="3482035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9CBD6"/>
                </a:solidFill>
                <a:latin typeface="Segoe UI"/>
              </a:rPr>
              <a:t>/scenarios line chart</a:t>
            </a:r>
            <a:endParaRPr/>
          </a:p>
        </p:txBody>
      </p:sp>
      <p:sp>
        <p:nvSpPr>
          <p:cNvPr id="293" name="TextBox 30"/>
          <p:cNvSpPr txBox="1"/>
          <p:nvPr/>
        </p:nvSpPr>
        <p:spPr>
          <a:xfrm>
            <a:off x="868680" y="3721608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"/>
              </a:rPr>
              <a:t>Express</a:t>
            </a:r>
            <a:endParaRPr/>
          </a:p>
        </p:txBody>
      </p:sp>
      <p:sp>
        <p:nvSpPr>
          <p:cNvPr id="294" name="TextBox 31"/>
          <p:cNvSpPr txBox="1"/>
          <p:nvPr/>
        </p:nvSpPr>
        <p:spPr>
          <a:xfrm>
            <a:off x="2633472" y="3721608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E3A44B"/>
                </a:solidFill>
                <a:latin typeface="Segoe UI"/>
              </a:rPr>
              <a:t>^5.3.0</a:t>
            </a:r>
            <a:endParaRPr/>
          </a:p>
        </p:txBody>
      </p:sp>
      <p:sp>
        <p:nvSpPr>
          <p:cNvPr id="295" name="TextBox 32"/>
          <p:cNvSpPr txBox="1"/>
          <p:nvPr/>
        </p:nvSpPr>
        <p:spPr>
          <a:xfrm>
            <a:off x="3456432" y="3721608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9CBD6"/>
                </a:solidFill>
                <a:latin typeface="Segoe UI"/>
              </a:rPr>
              <a:t>PDF extraction API</a:t>
            </a:r>
            <a:endParaRPr/>
          </a:p>
        </p:txBody>
      </p:sp>
      <p:sp>
        <p:nvSpPr>
          <p:cNvPr id="296" name="TextBox 33"/>
          <p:cNvSpPr txBox="1"/>
          <p:nvPr/>
        </p:nvSpPr>
        <p:spPr>
          <a:xfrm>
            <a:off x="868680" y="3961180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"/>
              </a:rPr>
              <a:t>pdf-parse</a:t>
            </a:r>
            <a:endParaRPr/>
          </a:p>
        </p:txBody>
      </p:sp>
      <p:sp>
        <p:nvSpPr>
          <p:cNvPr id="297" name="TextBox 34"/>
          <p:cNvSpPr txBox="1"/>
          <p:nvPr/>
        </p:nvSpPr>
        <p:spPr>
          <a:xfrm>
            <a:off x="2633472" y="3961180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E3A44B"/>
                </a:solidFill>
                <a:latin typeface="Segoe UI"/>
              </a:rPr>
              <a:t>^2.4.5</a:t>
            </a:r>
            <a:endParaRPr/>
          </a:p>
        </p:txBody>
      </p:sp>
      <p:sp>
        <p:nvSpPr>
          <p:cNvPr id="298" name="TextBox 35"/>
          <p:cNvSpPr txBox="1"/>
          <p:nvPr/>
        </p:nvSpPr>
        <p:spPr>
          <a:xfrm>
            <a:off x="3456432" y="396118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9CBD6"/>
                </a:solidFill>
                <a:latin typeface="Segoe UI"/>
              </a:rPr>
              <a:t>Real text extraction</a:t>
            </a:r>
            <a:endParaRPr/>
          </a:p>
        </p:txBody>
      </p:sp>
      <p:sp>
        <p:nvSpPr>
          <p:cNvPr id="299" name="TextBox 36"/>
          <p:cNvSpPr txBox="1"/>
          <p:nvPr/>
        </p:nvSpPr>
        <p:spPr>
          <a:xfrm>
            <a:off x="868680" y="4200753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"/>
              </a:rPr>
              <a:t>Pino</a:t>
            </a:r>
            <a:endParaRPr/>
          </a:p>
        </p:txBody>
      </p:sp>
      <p:sp>
        <p:nvSpPr>
          <p:cNvPr id="300" name="TextBox 37"/>
          <p:cNvSpPr txBox="1"/>
          <p:nvPr/>
        </p:nvSpPr>
        <p:spPr>
          <a:xfrm>
            <a:off x="2633472" y="4200753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E3A44B"/>
                </a:solidFill>
                <a:latin typeface="Segoe UI"/>
              </a:rPr>
              <a:t>^9.14.0</a:t>
            </a:r>
            <a:endParaRPr/>
          </a:p>
        </p:txBody>
      </p:sp>
      <p:sp>
        <p:nvSpPr>
          <p:cNvPr id="301" name="TextBox 38"/>
          <p:cNvSpPr txBox="1"/>
          <p:nvPr/>
        </p:nvSpPr>
        <p:spPr>
          <a:xfrm>
            <a:off x="3456432" y="4200753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9CBD6"/>
                </a:solidFill>
                <a:latin typeface="Segoe UI"/>
              </a:rPr>
              <a:t>Structured server logs</a:t>
            </a:r>
            <a:endParaRPr/>
          </a:p>
        </p:txBody>
      </p:sp>
      <p:sp>
        <p:nvSpPr>
          <p:cNvPr id="302" name="TextBox 39"/>
          <p:cNvSpPr txBox="1"/>
          <p:nvPr/>
        </p:nvSpPr>
        <p:spPr>
          <a:xfrm>
            <a:off x="868680" y="4440326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"/>
              </a:rPr>
              <a:t>Vite</a:t>
            </a:r>
            <a:endParaRPr/>
          </a:p>
        </p:txBody>
      </p:sp>
      <p:sp>
        <p:nvSpPr>
          <p:cNvPr id="303" name="TextBox 40"/>
          <p:cNvSpPr txBox="1"/>
          <p:nvPr/>
        </p:nvSpPr>
        <p:spPr>
          <a:xfrm>
            <a:off x="2633472" y="4440326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E3A44B"/>
                </a:solidFill>
                <a:latin typeface="Segoe UI"/>
              </a:rPr>
              <a:t>^7.3.7</a:t>
            </a:r>
            <a:endParaRPr/>
          </a:p>
        </p:txBody>
      </p:sp>
      <p:sp>
        <p:nvSpPr>
          <p:cNvPr id="304" name="TextBox 41"/>
          <p:cNvSpPr txBox="1"/>
          <p:nvPr/>
        </p:nvSpPr>
        <p:spPr>
          <a:xfrm>
            <a:off x="3456432" y="4440326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9CBD6"/>
                </a:solidFill>
                <a:latin typeface="Segoe UI"/>
              </a:rPr>
              <a:t>Dev and production build</a:t>
            </a:r>
            <a:endParaRPr/>
          </a:p>
        </p:txBody>
      </p:sp>
      <p:sp>
        <p:nvSpPr>
          <p:cNvPr id="305" name="TextBox 42"/>
          <p:cNvSpPr txBox="1"/>
          <p:nvPr/>
        </p:nvSpPr>
        <p:spPr>
          <a:xfrm>
            <a:off x="868680" y="4679899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"/>
              </a:rPr>
              <a:t>TypeScript</a:t>
            </a:r>
            <a:endParaRPr/>
          </a:p>
        </p:txBody>
      </p:sp>
      <p:sp>
        <p:nvSpPr>
          <p:cNvPr id="306" name="TextBox 43"/>
          <p:cNvSpPr txBox="1"/>
          <p:nvPr/>
        </p:nvSpPr>
        <p:spPr>
          <a:xfrm>
            <a:off x="2633472" y="4679899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E3A44B"/>
                </a:solidFill>
                <a:latin typeface="Segoe UI"/>
              </a:rPr>
              <a:t>~5.9.3</a:t>
            </a:r>
            <a:endParaRPr/>
          </a:p>
        </p:txBody>
      </p:sp>
      <p:sp>
        <p:nvSpPr>
          <p:cNvPr id="307" name="TextBox 44"/>
          <p:cNvSpPr txBox="1"/>
          <p:nvPr/>
        </p:nvSpPr>
        <p:spPr>
          <a:xfrm>
            <a:off x="3456432" y="4679899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9CBD6"/>
                </a:solidFill>
                <a:latin typeface="Segoe UI"/>
              </a:rPr>
              <a:t>End-to-end types</a:t>
            </a:r>
            <a:endParaRPr/>
          </a:p>
        </p:txBody>
      </p:sp>
      <p:sp>
        <p:nvSpPr>
          <p:cNvPr id="308" name="TextBox 45"/>
          <p:cNvSpPr txBox="1"/>
          <p:nvPr/>
        </p:nvSpPr>
        <p:spPr>
          <a:xfrm>
            <a:off x="868680" y="4919472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"/>
              </a:rPr>
              <a:t>esbuild</a:t>
            </a:r>
            <a:endParaRPr/>
          </a:p>
        </p:txBody>
      </p:sp>
      <p:sp>
        <p:nvSpPr>
          <p:cNvPr id="309" name="TextBox 46"/>
          <p:cNvSpPr txBox="1"/>
          <p:nvPr/>
        </p:nvSpPr>
        <p:spPr>
          <a:xfrm>
            <a:off x="2633472" y="4919472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E3A44B"/>
                </a:solidFill>
                <a:latin typeface="Segoe UI"/>
              </a:rPr>
              <a:t>0.27.3</a:t>
            </a:r>
            <a:endParaRPr/>
          </a:p>
        </p:txBody>
      </p:sp>
      <p:sp>
        <p:nvSpPr>
          <p:cNvPr id="310" name="TextBox 47"/>
          <p:cNvSpPr txBox="1"/>
          <p:nvPr/>
        </p:nvSpPr>
        <p:spPr>
          <a:xfrm>
            <a:off x="3456432" y="4919472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9CBD6"/>
                </a:solidFill>
                <a:latin typeface="Segoe UI"/>
              </a:rPr>
              <a:t>Backend bundle</a:t>
            </a:r>
            <a:endParaRPr/>
          </a:p>
        </p:txBody>
      </p:sp>
      <p:sp>
        <p:nvSpPr>
          <p:cNvPr id="311" name="TextBox 48"/>
          <p:cNvSpPr txBox="1"/>
          <p:nvPr/>
        </p:nvSpPr>
        <p:spPr>
          <a:xfrm>
            <a:off x="868680" y="5159044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"/>
              </a:rPr>
              <a:t>pnpm workspace</a:t>
            </a:r>
            <a:endParaRPr/>
          </a:p>
        </p:txBody>
      </p:sp>
      <p:sp>
        <p:nvSpPr>
          <p:cNvPr id="312" name="TextBox 49"/>
          <p:cNvSpPr txBox="1"/>
          <p:nvPr/>
        </p:nvSpPr>
        <p:spPr>
          <a:xfrm>
            <a:off x="2633472" y="5159044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E3A44B"/>
                </a:solidFill>
                <a:latin typeface="Segoe UI"/>
              </a:rPr>
              <a:t>—</a:t>
            </a:r>
            <a:endParaRPr/>
          </a:p>
        </p:txBody>
      </p:sp>
      <p:sp>
        <p:nvSpPr>
          <p:cNvPr id="313" name="TextBox 50"/>
          <p:cNvSpPr txBox="1"/>
          <p:nvPr/>
        </p:nvSpPr>
        <p:spPr>
          <a:xfrm>
            <a:off x="3456432" y="5159044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9CBD6"/>
                </a:solidFill>
                <a:latin typeface="Segoe UI"/>
              </a:rPr>
              <a:t>Monorepo</a:t>
            </a:r>
            <a:endParaRPr/>
          </a:p>
        </p:txBody>
      </p:sp>
      <p:sp>
        <p:nvSpPr>
          <p:cNvPr id="314" name="TextBox 51"/>
          <p:cNvSpPr txBox="1"/>
          <p:nvPr/>
        </p:nvSpPr>
        <p:spPr>
          <a:xfrm>
            <a:off x="6245352" y="2523744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"/>
              </a:rPr>
              <a:t>Node.js</a:t>
            </a:r>
            <a:endParaRPr/>
          </a:p>
        </p:txBody>
      </p:sp>
      <p:sp>
        <p:nvSpPr>
          <p:cNvPr id="315" name="TextBox 52"/>
          <p:cNvSpPr txBox="1"/>
          <p:nvPr/>
        </p:nvSpPr>
        <p:spPr>
          <a:xfrm>
            <a:off x="8010144" y="2523744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E3A44B"/>
                </a:solidFill>
                <a:latin typeface="Segoe UI"/>
              </a:rPr>
              <a:t>v24.22.1</a:t>
            </a:r>
            <a:endParaRPr/>
          </a:p>
        </p:txBody>
      </p:sp>
      <p:sp>
        <p:nvSpPr>
          <p:cNvPr id="316" name="TextBox 53"/>
          <p:cNvSpPr txBox="1"/>
          <p:nvPr/>
        </p:nvSpPr>
        <p:spPr>
          <a:xfrm>
            <a:off x="8833104" y="2523744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9CBD6"/>
                </a:solidFill>
                <a:latin typeface="Segoe UI"/>
              </a:rPr>
              <a:t>Frontend tests, backend</a:t>
            </a:r>
            <a:endParaRPr/>
          </a:p>
        </p:txBody>
      </p:sp>
      <p:sp>
        <p:nvSpPr>
          <p:cNvPr id="317" name="TextBox 54"/>
          <p:cNvSpPr txBox="1"/>
          <p:nvPr/>
        </p:nvSpPr>
        <p:spPr>
          <a:xfrm>
            <a:off x="6245352" y="2763316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"/>
              </a:rPr>
              <a:t>node:test</a:t>
            </a:r>
            <a:endParaRPr/>
          </a:p>
        </p:txBody>
      </p:sp>
      <p:sp>
        <p:nvSpPr>
          <p:cNvPr id="318" name="TextBox 55"/>
          <p:cNvSpPr txBox="1"/>
          <p:nvPr/>
        </p:nvSpPr>
        <p:spPr>
          <a:xfrm>
            <a:off x="8010144" y="2763316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E3A44B"/>
                </a:solidFill>
                <a:latin typeface="Segoe UI"/>
              </a:rPr>
              <a:t>built-in</a:t>
            </a:r>
            <a:endParaRPr/>
          </a:p>
        </p:txBody>
      </p:sp>
      <p:sp>
        <p:nvSpPr>
          <p:cNvPr id="319" name="TextBox 56"/>
          <p:cNvSpPr txBox="1"/>
          <p:nvPr/>
        </p:nvSpPr>
        <p:spPr>
          <a:xfrm>
            <a:off x="8833104" y="2763316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9CBD6"/>
                </a:solidFill>
                <a:latin typeface="Segoe UI"/>
              </a:rPr>
              <a:t>65 frontend + 58 API</a:t>
            </a:r>
            <a:endParaRPr/>
          </a:p>
        </p:txBody>
      </p:sp>
      <p:sp>
        <p:nvSpPr>
          <p:cNvPr id="320" name="TextBox 57"/>
          <p:cNvSpPr txBox="1"/>
          <p:nvPr/>
        </p:nvSpPr>
        <p:spPr>
          <a:xfrm>
            <a:off x="6245352" y="3002889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"/>
              </a:rPr>
              <a:t>Chromium + CDP</a:t>
            </a:r>
            <a:endParaRPr/>
          </a:p>
        </p:txBody>
      </p:sp>
      <p:sp>
        <p:nvSpPr>
          <p:cNvPr id="321" name="TextBox 58"/>
          <p:cNvSpPr txBox="1"/>
          <p:nvPr/>
        </p:nvSpPr>
        <p:spPr>
          <a:xfrm>
            <a:off x="8010144" y="3002889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E3A44B"/>
                </a:solidFill>
                <a:latin typeface="Segoe UI"/>
              </a:rPr>
              <a:t>—</a:t>
            </a:r>
            <a:endParaRPr/>
          </a:p>
        </p:txBody>
      </p:sp>
      <p:sp>
        <p:nvSpPr>
          <p:cNvPr id="322" name="TextBox 59"/>
          <p:cNvSpPr txBox="1"/>
          <p:nvPr/>
        </p:nvSpPr>
        <p:spPr>
          <a:xfrm>
            <a:off x="8833104" y="3002889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9CBD6"/>
                </a:solidFill>
                <a:latin typeface="Segoe UI"/>
              </a:rPr>
              <a:t>Upload flow, end to end</a:t>
            </a:r>
            <a:endParaRPr/>
          </a:p>
        </p:txBody>
      </p:sp>
      <p:sp>
        <p:nvSpPr>
          <p:cNvPr id="323" name="TextBox 60"/>
          <p:cNvSpPr txBox="1"/>
          <p:nvPr/>
        </p:nvSpPr>
        <p:spPr>
          <a:xfrm>
            <a:off x="6245352" y="3242462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"/>
              </a:rPr>
              <a:t>CSV ×2</a:t>
            </a:r>
            <a:endParaRPr/>
          </a:p>
        </p:txBody>
      </p:sp>
      <p:sp>
        <p:nvSpPr>
          <p:cNvPr id="324" name="TextBox 61"/>
          <p:cNvSpPr txBox="1"/>
          <p:nvPr/>
        </p:nvSpPr>
        <p:spPr>
          <a:xfrm>
            <a:off x="8010144" y="3242462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E3A44B"/>
                </a:solidFill>
                <a:latin typeface="Segoe UI"/>
              </a:rPr>
              <a:t>20 + 473 rows</a:t>
            </a:r>
            <a:endParaRPr/>
          </a:p>
        </p:txBody>
      </p:sp>
      <p:sp>
        <p:nvSpPr>
          <p:cNvPr id="325" name="TextBox 62"/>
          <p:cNvSpPr txBox="1"/>
          <p:nvPr/>
        </p:nvSpPr>
        <p:spPr>
          <a:xfrm>
            <a:off x="8833104" y="3242462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9CBD6"/>
                </a:solidFill>
                <a:latin typeface="Segoe UI"/>
              </a:rPr>
              <a:t>Role × skill matrix</a:t>
            </a:r>
            <a:endParaRPr/>
          </a:p>
        </p:txBody>
      </p:sp>
      <p:sp>
        <p:nvSpPr>
          <p:cNvPr id="326" name="TextBox 63"/>
          <p:cNvSpPr txBox="1"/>
          <p:nvPr/>
        </p:nvSpPr>
        <p:spPr>
          <a:xfrm>
            <a:off x="6245352" y="3482035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"/>
              </a:rPr>
              <a:t>O*NET 31.0</a:t>
            </a:r>
            <a:endParaRPr/>
          </a:p>
        </p:txBody>
      </p:sp>
      <p:sp>
        <p:nvSpPr>
          <p:cNvPr id="327" name="TextBox 64"/>
          <p:cNvSpPr txBox="1"/>
          <p:nvPr/>
        </p:nvSpPr>
        <p:spPr>
          <a:xfrm>
            <a:off x="8010144" y="3482035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E3A44B"/>
                </a:solidFill>
                <a:latin typeface="Segoe UI"/>
              </a:rPr>
              <a:t>CC BY 4.0</a:t>
            </a:r>
            <a:endParaRPr/>
          </a:p>
        </p:txBody>
      </p:sp>
      <p:sp>
        <p:nvSpPr>
          <p:cNvPr id="328" name="TextBox 65"/>
          <p:cNvSpPr txBox="1"/>
          <p:nvPr/>
        </p:nvSpPr>
        <p:spPr>
          <a:xfrm>
            <a:off x="8833104" y="3482035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9CBD6"/>
                </a:solidFill>
                <a:latin typeface="Segoe UI"/>
              </a:rPr>
              <a:t>Occupation–skill links</a:t>
            </a:r>
            <a:endParaRPr/>
          </a:p>
        </p:txBody>
      </p:sp>
      <p:sp>
        <p:nvSpPr>
          <p:cNvPr id="329" name="TextBox 66"/>
          <p:cNvSpPr txBox="1"/>
          <p:nvPr/>
        </p:nvSpPr>
        <p:spPr>
          <a:xfrm>
            <a:off x="6245352" y="3721608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"/>
              </a:rPr>
              <a:t>localStorage</a:t>
            </a:r>
            <a:endParaRPr/>
          </a:p>
        </p:txBody>
      </p:sp>
      <p:sp>
        <p:nvSpPr>
          <p:cNvPr id="330" name="TextBox 67"/>
          <p:cNvSpPr txBox="1"/>
          <p:nvPr/>
        </p:nvSpPr>
        <p:spPr>
          <a:xfrm>
            <a:off x="8010144" y="3721608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E3A44B"/>
                </a:solidFill>
                <a:latin typeface="Segoe UI"/>
              </a:rPr>
              <a:t>—</a:t>
            </a:r>
            <a:endParaRPr/>
          </a:p>
        </p:txBody>
      </p:sp>
      <p:sp>
        <p:nvSpPr>
          <p:cNvPr id="331" name="TextBox 68"/>
          <p:cNvSpPr txBox="1"/>
          <p:nvPr/>
        </p:nvSpPr>
        <p:spPr>
          <a:xfrm>
            <a:off x="8833104" y="3721608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9CBD6"/>
                </a:solidFill>
                <a:latin typeface="Segoe UI"/>
              </a:rPr>
              <a:t>Profile, progress, prefs</a:t>
            </a:r>
            <a:endParaRPr/>
          </a:p>
        </p:txBody>
      </p:sp>
      <p:sp>
        <p:nvSpPr>
          <p:cNvPr id="332" name="TextBox 69"/>
          <p:cNvSpPr txBox="1"/>
          <p:nvPr/>
        </p:nvSpPr>
        <p:spPr>
          <a:xfrm>
            <a:off x="6245352" y="3961180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"/>
              </a:rPr>
              <a:t>Replit</a:t>
            </a:r>
            <a:endParaRPr/>
          </a:p>
        </p:txBody>
      </p:sp>
      <p:sp>
        <p:nvSpPr>
          <p:cNvPr id="333" name="TextBox 70"/>
          <p:cNvSpPr txBox="1"/>
          <p:nvPr/>
        </p:nvSpPr>
        <p:spPr>
          <a:xfrm>
            <a:off x="8010144" y="3961180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E3A44B"/>
                </a:solidFill>
                <a:latin typeface="Segoe UI"/>
              </a:rPr>
              <a:t>Agents, Shell</a:t>
            </a:r>
            <a:endParaRPr/>
          </a:p>
        </p:txBody>
      </p:sp>
      <p:sp>
        <p:nvSpPr>
          <p:cNvPr id="334" name="TextBox 71"/>
          <p:cNvSpPr txBox="1"/>
          <p:nvPr/>
        </p:nvSpPr>
        <p:spPr>
          <a:xfrm>
            <a:off x="8833104" y="396118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9CBD6"/>
                </a:solidFill>
                <a:latin typeface="Segoe UI"/>
              </a:rPr>
              <a:t>Development and deployment</a:t>
            </a:r>
            <a:endParaRPr/>
          </a:p>
        </p:txBody>
      </p:sp>
      <p:sp>
        <p:nvSpPr>
          <p:cNvPr id="335" name="TextBox 72"/>
          <p:cNvSpPr txBox="1"/>
          <p:nvPr/>
        </p:nvSpPr>
        <p:spPr>
          <a:xfrm>
            <a:off x="6245352" y="4200753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"/>
              </a:rPr>
              <a:t>PostgreSQL + Drizzle</a:t>
            </a:r>
            <a:endParaRPr/>
          </a:p>
        </p:txBody>
      </p:sp>
      <p:sp>
        <p:nvSpPr>
          <p:cNvPr id="336" name="TextBox 73"/>
          <p:cNvSpPr txBox="1"/>
          <p:nvPr/>
        </p:nvSpPr>
        <p:spPr>
          <a:xfrm>
            <a:off x="8010144" y="4200753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E3A44B"/>
                </a:solidFill>
                <a:latin typeface="Segoe UI"/>
              </a:rPr>
              <a:t>^8.22 / ^0.45</a:t>
            </a:r>
            <a:endParaRPr/>
          </a:p>
        </p:txBody>
      </p:sp>
      <p:sp>
        <p:nvSpPr>
          <p:cNvPr id="337" name="TextBox 74"/>
          <p:cNvSpPr txBox="1"/>
          <p:nvPr/>
        </p:nvSpPr>
        <p:spPr>
          <a:xfrm>
            <a:off x="8833104" y="4200753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9CBD6"/>
                </a:solidFill>
                <a:latin typeface="Segoe UI"/>
              </a:rPr>
              <a:t>Schema only, not wired</a:t>
            </a:r>
            <a:endParaRPr/>
          </a:p>
        </p:txBody>
      </p:sp>
      <p:sp>
        <p:nvSpPr>
          <p:cNvPr id="338" name="TextBox 75"/>
          <p:cNvSpPr txBox="1"/>
          <p:nvPr/>
        </p:nvSpPr>
        <p:spPr>
          <a:xfrm>
            <a:off x="6245352" y="4440326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"/>
              </a:rPr>
              <a:t>Clerk / Replit Auth</a:t>
            </a:r>
            <a:endParaRPr/>
          </a:p>
        </p:txBody>
      </p:sp>
      <p:sp>
        <p:nvSpPr>
          <p:cNvPr id="339" name="TextBox 76"/>
          <p:cNvSpPr txBox="1"/>
          <p:nvPr/>
        </p:nvSpPr>
        <p:spPr>
          <a:xfrm>
            <a:off x="8010144" y="4440326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E3A44B"/>
                </a:solidFill>
                <a:latin typeface="Segoe UI"/>
              </a:rPr>
              <a:t>—</a:t>
            </a:r>
            <a:endParaRPr/>
          </a:p>
        </p:txBody>
      </p:sp>
      <p:sp>
        <p:nvSpPr>
          <p:cNvPr id="340" name="TextBox 77"/>
          <p:cNvSpPr txBox="1"/>
          <p:nvPr/>
        </p:nvSpPr>
        <p:spPr>
          <a:xfrm>
            <a:off x="8833104" y="4440326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9CBD6"/>
                </a:solidFill>
                <a:latin typeface="Segoe UI"/>
              </a:rPr>
              <a:t>Not used</a:t>
            </a:r>
            <a:endParaRPr/>
          </a:p>
        </p:txBody>
      </p:sp>
      <p:sp>
        <p:nvSpPr>
          <p:cNvPr id="341" name="TextBox 78"/>
          <p:cNvSpPr txBox="1"/>
          <p:nvPr/>
        </p:nvSpPr>
        <p:spPr>
          <a:xfrm>
            <a:off x="6245352" y="4679899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"/>
              </a:rPr>
              <a:t>GLM-5.3 / RunPod</a:t>
            </a:r>
            <a:endParaRPr/>
          </a:p>
        </p:txBody>
      </p:sp>
      <p:sp>
        <p:nvSpPr>
          <p:cNvPr id="342" name="TextBox 79"/>
          <p:cNvSpPr txBox="1"/>
          <p:nvPr/>
        </p:nvSpPr>
        <p:spPr>
          <a:xfrm>
            <a:off x="8010144" y="4679899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E3A44B"/>
                </a:solidFill>
                <a:latin typeface="Segoe UI"/>
              </a:rPr>
              <a:t>—</a:t>
            </a:r>
            <a:endParaRPr/>
          </a:p>
        </p:txBody>
      </p:sp>
      <p:sp>
        <p:nvSpPr>
          <p:cNvPr id="343" name="TextBox 80"/>
          <p:cNvSpPr txBox="1"/>
          <p:nvPr/>
        </p:nvSpPr>
        <p:spPr>
          <a:xfrm>
            <a:off x="8833104" y="4679899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9CBD6"/>
                </a:solidFill>
                <a:latin typeface="Segoe UI"/>
              </a:rPr>
              <a:t>Simulated, not connected</a:t>
            </a:r>
            <a:endParaRPr/>
          </a:p>
        </p:txBody>
      </p:sp>
      <p:sp>
        <p:nvSpPr>
          <p:cNvPr id="344" name="TextBox 81"/>
          <p:cNvSpPr txBox="1"/>
          <p:nvPr/>
        </p:nvSpPr>
        <p:spPr>
          <a:xfrm>
            <a:off x="6245352" y="4919472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"/>
              </a:rPr>
              <a:t>OCR</a:t>
            </a:r>
            <a:endParaRPr/>
          </a:p>
        </p:txBody>
      </p:sp>
      <p:sp>
        <p:nvSpPr>
          <p:cNvPr id="345" name="TextBox 82"/>
          <p:cNvSpPr txBox="1"/>
          <p:nvPr/>
        </p:nvSpPr>
        <p:spPr>
          <a:xfrm>
            <a:off x="8010144" y="4919472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E3A44B"/>
                </a:solidFill>
                <a:latin typeface="Segoe UI"/>
              </a:rPr>
              <a:t>—</a:t>
            </a:r>
            <a:endParaRPr/>
          </a:p>
        </p:txBody>
      </p:sp>
      <p:sp>
        <p:nvSpPr>
          <p:cNvPr id="346" name="TextBox 83"/>
          <p:cNvSpPr txBox="1"/>
          <p:nvPr/>
        </p:nvSpPr>
        <p:spPr>
          <a:xfrm>
            <a:off x="8833104" y="4919472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9CBD6"/>
                </a:solidFill>
                <a:latin typeface="Segoe UI"/>
              </a:rPr>
              <a:t>Scanned files unsupported</a:t>
            </a:r>
            <a:endParaRPr/>
          </a:p>
        </p:txBody>
      </p:sp>
      <p:sp>
        <p:nvSpPr>
          <p:cNvPr id="347" name="TextBox 84"/>
          <p:cNvSpPr txBox="1"/>
          <p:nvPr/>
        </p:nvSpPr>
        <p:spPr>
          <a:xfrm>
            <a:off x="6245352" y="5159044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"/>
              </a:rPr>
              <a:t>Replit Secrets</a:t>
            </a:r>
            <a:endParaRPr/>
          </a:p>
        </p:txBody>
      </p:sp>
      <p:sp>
        <p:nvSpPr>
          <p:cNvPr id="348" name="TextBox 85"/>
          <p:cNvSpPr txBox="1"/>
          <p:nvPr/>
        </p:nvSpPr>
        <p:spPr>
          <a:xfrm>
            <a:off x="8010144" y="5159044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E3A44B"/>
                </a:solidFill>
                <a:latin typeface="Segoe UI"/>
              </a:rPr>
              <a:t>—</a:t>
            </a:r>
            <a:endParaRPr/>
          </a:p>
        </p:txBody>
      </p:sp>
      <p:sp>
        <p:nvSpPr>
          <p:cNvPr id="349" name="TextBox 86"/>
          <p:cNvSpPr txBox="1"/>
          <p:nvPr/>
        </p:nvSpPr>
        <p:spPr>
          <a:xfrm>
            <a:off x="8833104" y="5159044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9CBD6"/>
                </a:solidFill>
                <a:latin typeface="Segoe UI"/>
              </a:rPr>
              <a:t>Not inspected</a:t>
            </a:r>
            <a:endParaRPr/>
          </a:p>
        </p:txBody>
      </p:sp>
      <p:sp>
        <p:nvSpPr>
          <p:cNvPr id="350" name="Rectangle 87"/>
          <p:cNvSpPr/>
          <p:nvPr/>
        </p:nvSpPr>
        <p:spPr>
          <a:xfrm>
            <a:off x="868680" y="5431536"/>
            <a:ext cx="10451592" cy="9144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4-Point Star 88"/>
          <p:cNvSpPr/>
          <p:nvPr/>
        </p:nvSpPr>
        <p:spPr>
          <a:xfrm>
            <a:off x="882396" y="5545836"/>
            <a:ext cx="100584" cy="100584"/>
          </a:xfrm>
          <a:prstGeom prst="star4">
            <a:avLst>
              <a:gd name="adj" fmla="val 16000"/>
            </a:avLst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TextBox 89"/>
          <p:cNvSpPr txBox="1"/>
          <p:nvPr/>
        </p:nvSpPr>
        <p:spPr>
          <a:xfrm>
            <a:off x="1124712" y="5504688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Rotary Club</a:t>
            </a:r>
            <a:endParaRPr/>
          </a:p>
        </p:txBody>
      </p:sp>
      <p:sp>
        <p:nvSpPr>
          <p:cNvPr id="353" name="TextBox 90"/>
          <p:cNvSpPr txBox="1"/>
          <p:nvPr/>
        </p:nvSpPr>
        <p:spPr>
          <a:xfrm>
            <a:off x="1124712" y="5742432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B9CBD6"/>
                </a:solidFill>
                <a:latin typeface="Segoe UI"/>
              </a:rPr>
              <a:t>Community partnership, outreach and local delivery</a:t>
            </a:r>
            <a:endParaRPr/>
          </a:p>
        </p:txBody>
      </p:sp>
      <p:sp>
        <p:nvSpPr>
          <p:cNvPr id="354" name="4-Point Star 91"/>
          <p:cNvSpPr/>
          <p:nvPr/>
        </p:nvSpPr>
        <p:spPr>
          <a:xfrm>
            <a:off x="4402836" y="5545836"/>
            <a:ext cx="100584" cy="100584"/>
          </a:xfrm>
          <a:prstGeom prst="star4">
            <a:avLst>
              <a:gd name="adj" fmla="val 16000"/>
            </a:avLst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TextBox 92"/>
          <p:cNvSpPr txBox="1"/>
          <p:nvPr/>
        </p:nvSpPr>
        <p:spPr>
          <a:xfrm>
            <a:off x="4645152" y="5504688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SDC Hackathon</a:t>
            </a:r>
            <a:endParaRPr/>
          </a:p>
        </p:txBody>
      </p:sp>
      <p:sp>
        <p:nvSpPr>
          <p:cNvPr id="356" name="TextBox 93"/>
          <p:cNvSpPr txBox="1"/>
          <p:nvPr/>
        </p:nvSpPr>
        <p:spPr>
          <a:xfrm>
            <a:off x="4645152" y="5742432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B9CBD6"/>
                </a:solidFill>
                <a:latin typeface="Segoe UI"/>
              </a:rPr>
              <a:t>Organisers, mentors and judges who pushed the work</a:t>
            </a:r>
            <a:endParaRPr/>
          </a:p>
        </p:txBody>
      </p:sp>
      <p:sp>
        <p:nvSpPr>
          <p:cNvPr id="357" name="4-Point Star 94"/>
          <p:cNvSpPr/>
          <p:nvPr/>
        </p:nvSpPr>
        <p:spPr>
          <a:xfrm>
            <a:off x="7923276" y="5545836"/>
            <a:ext cx="100584" cy="100584"/>
          </a:xfrm>
          <a:prstGeom prst="star4">
            <a:avLst>
              <a:gd name="adj" fmla="val 16000"/>
            </a:avLst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TextBox 95"/>
          <p:cNvSpPr txBox="1"/>
          <p:nvPr/>
        </p:nvSpPr>
        <p:spPr>
          <a:xfrm>
            <a:off x="8165592" y="5504688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O*NET 31.0 · U.S. DOL</a:t>
            </a:r>
            <a:endParaRPr/>
          </a:p>
        </p:txBody>
      </p:sp>
      <p:sp>
        <p:nvSpPr>
          <p:cNvPr id="359" name="TextBox 96"/>
          <p:cNvSpPr txBox="1"/>
          <p:nvPr/>
        </p:nvSpPr>
        <p:spPr>
          <a:xfrm>
            <a:off x="8165592" y="5742432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B9CBD6"/>
                </a:solidFill>
                <a:latin typeface="Segoe UI"/>
              </a:rPr>
              <a:t>Occupation and skill data, CC BY 4.0</a:t>
            </a:r>
            <a:endParaRPr/>
          </a:p>
        </p:txBody>
      </p:sp>
      <p:sp>
        <p:nvSpPr>
          <p:cNvPr id="360" name="Rectangle 97"/>
          <p:cNvSpPr/>
          <p:nvPr/>
        </p:nvSpPr>
        <p:spPr>
          <a:xfrm>
            <a:off x="868680" y="6355080"/>
            <a:ext cx="10451592" cy="9144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TextBox 98"/>
          <p:cNvSpPr txBox="1"/>
          <p:nvPr/>
        </p:nvSpPr>
        <p:spPr>
          <a:xfrm>
            <a:off x="868680" y="64556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 spc="190">
                <a:solidFill>
                  <a:srgbClr val="B9CBD6"/>
                </a:solidFill>
                <a:latin typeface="Segoe UI"/>
              </a:rPr>
              <a:t>PIVOTPATHWAY   ·   SDC HACKATHON</a:t>
            </a:r>
            <a:endParaRPr/>
          </a:p>
        </p:txBody>
      </p:sp>
      <p:sp>
        <p:nvSpPr>
          <p:cNvPr id="362" name="TextBox 99"/>
          <p:cNvSpPr txBox="1"/>
          <p:nvPr/>
        </p:nvSpPr>
        <p:spPr>
          <a:xfrm>
            <a:off x="10561320" y="642823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</a:pPr>
            <a:r>
              <a:rPr sz="950" b="1" i="0" spc="120">
                <a:solidFill>
                  <a:srgbClr val="E3A44B"/>
                </a:solidFill>
                <a:latin typeface="Segoe UI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8F5EF"/>
              </a:gs>
              <a:gs pos="100000">
                <a:srgbClr val="F8F5EF"/>
              </a:gs>
            </a:gsLst>
            <a:lin ang="1890000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Rectangle 2"/>
          <p:cNvSpPr/>
          <p:nvPr/>
        </p:nvSpPr>
        <p:spPr>
          <a:xfrm>
            <a:off x="868680" y="731520"/>
            <a:ext cx="237744" cy="21945"/>
          </a:xfrm>
          <a:prstGeom prst="rect">
            <a:avLst/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6" name="TextBox 3"/>
          <p:cNvSpPr txBox="1"/>
          <p:nvPr/>
        </p:nvSpPr>
        <p:spPr>
          <a:xfrm>
            <a:off x="1225296" y="6537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00" b="1" i="0" spc="240">
                <a:solidFill>
                  <a:srgbClr val="C9862E"/>
                </a:solidFill>
                <a:latin typeface="Segoe UI"/>
              </a:rPr>
              <a:t>08  —  THANK YOU</a:t>
            </a:r>
            <a:endParaRPr/>
          </a:p>
        </p:txBody>
      </p:sp>
      <p:sp>
        <p:nvSpPr>
          <p:cNvPr id="367" name="TextBox 4"/>
          <p:cNvSpPr txBox="1"/>
          <p:nvPr/>
        </p:nvSpPr>
        <p:spPr>
          <a:xfrm>
            <a:off x="841248" y="1755648"/>
            <a:ext cx="6949440" cy="128016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/>
            <a:r>
              <a:rPr sz="8000" b="1" spc="-100">
                <a:solidFill>
                  <a:srgbClr val="0C2438"/>
                </a:solidFill>
                <a:latin typeface="Segoe UI"/>
              </a:rPr>
              <a:t>Thank you</a:t>
            </a:r>
            <a:r>
              <a:rPr sz="8000" b="1" spc="-100">
                <a:solidFill>
                  <a:srgbClr val="E3A44B"/>
                </a:solidFill>
                <a:latin typeface="Segoe UI"/>
              </a:rPr>
              <a:t>.</a:t>
            </a:r>
            <a:endParaRPr/>
          </a:p>
        </p:txBody>
      </p:sp>
      <p:sp>
        <p:nvSpPr>
          <p:cNvPr id="368" name="Rectangle 5"/>
          <p:cNvSpPr/>
          <p:nvPr/>
        </p:nvSpPr>
        <p:spPr>
          <a:xfrm>
            <a:off x="868680" y="3200400"/>
            <a:ext cx="960120" cy="32004"/>
          </a:xfrm>
          <a:prstGeom prst="rect">
            <a:avLst/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TextBox 6"/>
          <p:cNvSpPr txBox="1"/>
          <p:nvPr/>
        </p:nvSpPr>
        <p:spPr>
          <a:xfrm>
            <a:off x="868680" y="3419856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C2438"/>
                </a:solidFill>
                <a:latin typeface="Segoe UI"/>
              </a:rPr>
              <a:t>Fresh Team</a:t>
            </a:r>
            <a:endParaRPr/>
          </a:p>
        </p:txBody>
      </p:sp>
      <p:sp>
        <p:nvSpPr>
          <p:cNvPr id="370" name="TextBox 7"/>
          <p:cNvSpPr txBox="1"/>
          <p:nvPr/>
        </p:nvSpPr>
        <p:spPr>
          <a:xfrm>
            <a:off x="868680" y="400507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800" b="1" i="0" spc="200">
                <a:solidFill>
                  <a:srgbClr val="6B7B85"/>
                </a:solidFill>
                <a:latin typeface="Segoe UI"/>
              </a:rPr>
              <a:t>PIVOTPATHWAY   ·   SDC HACKATHON</a:t>
            </a:r>
            <a:endParaRPr/>
          </a:p>
        </p:txBody>
      </p:sp>
      <p:sp>
        <p:nvSpPr>
          <p:cNvPr id="371" name="TextBox 8"/>
          <p:cNvSpPr txBox="1"/>
          <p:nvPr/>
        </p:nvSpPr>
        <p:spPr>
          <a:xfrm>
            <a:off x="868680" y="4590288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sz="1250" b="0" i="1">
                <a:solidFill>
                  <a:srgbClr val="16252E"/>
                </a:solidFill>
                <a:latin typeface="Georgia"/>
              </a:rPr>
              <a:t>Built for the people who have to choose a direction —</a:t>
            </a:r>
            <a:endParaRPr/>
          </a:p>
          <a:p>
            <a:pPr algn="l">
              <a:lnSpc>
                <a:spcPct val="140000"/>
              </a:lnSpc>
            </a:pPr>
            <a:r>
              <a:rPr sz="1250" b="0" i="1">
                <a:solidFill>
                  <a:srgbClr val="16252E"/>
                </a:solidFill>
                <a:latin typeface="Georgia"/>
              </a:rPr>
              <a:t>often without anyone to ask.</a:t>
            </a:r>
            <a:endParaRPr/>
          </a:p>
        </p:txBody>
      </p:sp>
      <p:sp>
        <p:nvSpPr>
          <p:cNvPr id="372" name="TextBox 9"/>
          <p:cNvSpPr txBox="1"/>
          <p:nvPr/>
        </p:nvSpPr>
        <p:spPr>
          <a:xfrm>
            <a:off x="7818120" y="2029968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 spc="200">
                <a:solidFill>
                  <a:srgbClr val="C9862E"/>
                </a:solidFill>
                <a:latin typeface="Segoe UI"/>
              </a:rPr>
              <a:t>THE TEAM</a:t>
            </a:r>
            <a:endParaRPr/>
          </a:p>
        </p:txBody>
      </p:sp>
      <p:sp>
        <p:nvSpPr>
          <p:cNvPr id="373" name="4-Point Star 10"/>
          <p:cNvSpPr/>
          <p:nvPr/>
        </p:nvSpPr>
        <p:spPr>
          <a:xfrm>
            <a:off x="7891271" y="2450592"/>
            <a:ext cx="128016" cy="128016"/>
          </a:xfrm>
          <a:prstGeom prst="star4">
            <a:avLst>
              <a:gd name="adj" fmla="val 16000"/>
            </a:avLst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TextBox 11"/>
          <p:cNvSpPr txBox="1"/>
          <p:nvPr/>
        </p:nvSpPr>
        <p:spPr>
          <a:xfrm>
            <a:off x="8247888" y="2395728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C2438"/>
                </a:solidFill>
                <a:latin typeface="Segoe UI"/>
              </a:rPr>
              <a:t>Chen Yang</a:t>
            </a:r>
            <a:endParaRPr/>
          </a:p>
        </p:txBody>
      </p:sp>
      <p:sp>
        <p:nvSpPr>
          <p:cNvPr id="375" name="4-Point Star 12"/>
          <p:cNvSpPr/>
          <p:nvPr/>
        </p:nvSpPr>
        <p:spPr>
          <a:xfrm>
            <a:off x="7891271" y="2962656"/>
            <a:ext cx="128016" cy="128016"/>
          </a:xfrm>
          <a:prstGeom prst="star4">
            <a:avLst>
              <a:gd name="adj" fmla="val 16000"/>
            </a:avLst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TextBox 13"/>
          <p:cNvSpPr txBox="1"/>
          <p:nvPr/>
        </p:nvSpPr>
        <p:spPr>
          <a:xfrm>
            <a:off x="8247888" y="290779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C2438"/>
                </a:solidFill>
                <a:latin typeface="Segoe UI"/>
              </a:rPr>
              <a:t>Jiang Yue</a:t>
            </a:r>
            <a:endParaRPr/>
          </a:p>
        </p:txBody>
      </p:sp>
      <p:sp>
        <p:nvSpPr>
          <p:cNvPr id="377" name="4-Point Star 14"/>
          <p:cNvSpPr/>
          <p:nvPr/>
        </p:nvSpPr>
        <p:spPr>
          <a:xfrm>
            <a:off x="7891271" y="3474720"/>
            <a:ext cx="128016" cy="128016"/>
          </a:xfrm>
          <a:prstGeom prst="star4">
            <a:avLst>
              <a:gd name="adj" fmla="val 16000"/>
            </a:avLst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TextBox 15"/>
          <p:cNvSpPr txBox="1"/>
          <p:nvPr/>
        </p:nvSpPr>
        <p:spPr>
          <a:xfrm>
            <a:off x="8247888" y="3419856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C2438"/>
                </a:solidFill>
                <a:latin typeface="Segoe UI"/>
              </a:rPr>
              <a:t>Yan Zimeng</a:t>
            </a:r>
            <a:endParaRPr/>
          </a:p>
        </p:txBody>
      </p:sp>
      <p:sp>
        <p:nvSpPr>
          <p:cNvPr id="379" name="4-Point Star 16"/>
          <p:cNvSpPr/>
          <p:nvPr/>
        </p:nvSpPr>
        <p:spPr>
          <a:xfrm>
            <a:off x="7891271" y="3986784"/>
            <a:ext cx="128016" cy="128016"/>
          </a:xfrm>
          <a:prstGeom prst="star4">
            <a:avLst>
              <a:gd name="adj" fmla="val 16000"/>
            </a:avLst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TextBox 17"/>
          <p:cNvSpPr txBox="1"/>
          <p:nvPr/>
        </p:nvSpPr>
        <p:spPr>
          <a:xfrm>
            <a:off x="8247888" y="3931920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C2438"/>
                </a:solidFill>
                <a:latin typeface="Segoe UI"/>
              </a:rPr>
              <a:t>Gao Jingyi</a:t>
            </a:r>
            <a:endParaRPr/>
          </a:p>
        </p:txBody>
      </p:sp>
      <p:sp>
        <p:nvSpPr>
          <p:cNvPr id="381" name="4-Point Star 18"/>
          <p:cNvSpPr/>
          <p:nvPr/>
        </p:nvSpPr>
        <p:spPr>
          <a:xfrm>
            <a:off x="7891271" y="4498848"/>
            <a:ext cx="128016" cy="128016"/>
          </a:xfrm>
          <a:prstGeom prst="star4">
            <a:avLst>
              <a:gd name="adj" fmla="val 16000"/>
            </a:avLst>
          </a:prstGeom>
          <a:solidFill>
            <a:srgbClr val="E3A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TextBox 19"/>
          <p:cNvSpPr txBox="1"/>
          <p:nvPr/>
        </p:nvSpPr>
        <p:spPr>
          <a:xfrm>
            <a:off x="8247888" y="4443984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C2438"/>
                </a:solidFill>
                <a:latin typeface="Segoe UI"/>
              </a:rPr>
              <a:t>Chen Yike</a:t>
            </a:r>
            <a:endParaRPr/>
          </a:p>
        </p:txBody>
      </p:sp>
      <p:sp>
        <p:nvSpPr>
          <p:cNvPr id="383" name="Oval 20"/>
          <p:cNvSpPr/>
          <p:nvPr/>
        </p:nvSpPr>
        <p:spPr>
          <a:xfrm>
            <a:off x="7813548" y="5417820"/>
            <a:ext cx="137160" cy="137160"/>
          </a:xfrm>
          <a:prstGeom prst="ellipse">
            <a:avLst/>
          </a:prstGeom>
          <a:noFill/>
          <a:ln w="17780">
            <a:solidFill>
              <a:srgbClr val="E3A44B">
                <a:alpha val="90000"/>
              </a:srgbClr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TextBox 21"/>
          <p:cNvSpPr txBox="1"/>
          <p:nvPr/>
        </p:nvSpPr>
        <p:spPr>
          <a:xfrm>
            <a:off x="8156448" y="53949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C2438"/>
                </a:solidFill>
                <a:latin typeface="Segoe UI"/>
              </a:rPr>
              <a:t>In partnership with Rotary Club</a:t>
            </a:r>
            <a:endParaRPr/>
          </a:p>
        </p:txBody>
      </p:sp>
      <p:sp>
        <p:nvSpPr>
          <p:cNvPr id="385" name="Rectangle 22"/>
          <p:cNvSpPr/>
          <p:nvPr/>
        </p:nvSpPr>
        <p:spPr>
          <a:xfrm>
            <a:off x="868680" y="6355080"/>
            <a:ext cx="10451592" cy="9144"/>
          </a:xfrm>
          <a:prstGeom prst="rect">
            <a:avLst/>
          </a:prstGeom>
          <a:solidFill>
            <a:srgbClr val="0C2438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6" name="TextBox 23"/>
          <p:cNvSpPr txBox="1"/>
          <p:nvPr/>
        </p:nvSpPr>
        <p:spPr>
          <a:xfrm>
            <a:off x="868680" y="645566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1" i="0" spc="190">
                <a:solidFill>
                  <a:srgbClr val="6B7B85"/>
                </a:solidFill>
                <a:latin typeface="Segoe UI"/>
              </a:rPr>
              <a:t>PIVOTPATHWAY   ·   SDC HACKATHON</a:t>
            </a:r>
            <a:endParaRPr/>
          </a:p>
        </p:txBody>
      </p:sp>
      <p:sp>
        <p:nvSpPr>
          <p:cNvPr id="387" name="TextBox 24"/>
          <p:cNvSpPr txBox="1"/>
          <p:nvPr/>
        </p:nvSpPr>
        <p:spPr>
          <a:xfrm>
            <a:off x="10561320" y="642823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</a:pPr>
            <a:r>
              <a:rPr sz="950" b="1" i="0" spc="120">
                <a:solidFill>
                  <a:srgbClr val="C9862E"/>
                </a:solidFill>
                <a:latin typeface="Segoe UI"/>
              </a:rPr>
              <a:t>08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2026-10-24T18:23:53Z</dcterms:created>
  <dcterms:modified xsi:type="dcterms:W3CDTF">2026-10-24T18:23:53Z</dcterms:modified>
</cp:coreProperties>
</file>